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Google Sans Flex Medium"/>
      <p:regular r:id="rId22"/>
      <p:bold r:id="rId23"/>
    </p:embeddedFont>
    <p:embeddedFont>
      <p:font typeface="Google Sans Flex"/>
      <p:regular r:id="rId24"/>
      <p:bold r:id="rId25"/>
    </p:embeddedFont>
    <p:embeddedFont>
      <p:font typeface="Google Sans Flex SemiBo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GoogleSansFlexMedium-regular.fntdata"/><Relationship Id="rId21" Type="http://schemas.openxmlformats.org/officeDocument/2006/relationships/slide" Target="slides/slide16.xml"/><Relationship Id="rId24" Type="http://schemas.openxmlformats.org/officeDocument/2006/relationships/font" Target="fonts/GoogleSansFlex-regular.fntdata"/><Relationship Id="rId23" Type="http://schemas.openxmlformats.org/officeDocument/2006/relationships/font" Target="fonts/GoogleSansFlexMedium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GoogleSansFlexSemiBold-regular.fntdata"/><Relationship Id="rId25" Type="http://schemas.openxmlformats.org/officeDocument/2006/relationships/font" Target="fonts/GoogleSansFlex-bold.fntdata"/><Relationship Id="rId27" Type="http://schemas.openxmlformats.org/officeDocument/2006/relationships/font" Target="fonts/GoogleSansFlex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Repository-grounded content. No new model calls, cloud changes or human feedback created.</a:t>
            </a:r>
          </a:p>
          <a:p>
            <a:r>
              <a:t>Sources: README.md, backend/engine.py, backend/models.py</a:t>
            </a:r>
          </a:p>
          <a:p>
            <a:r>
              <a:t>Slide text:</a:t>
            </a:r>
          </a:p>
          <a:p>
            <a:r>
              <a:t>AML Insight — evidence-backed AML investigations</a:t>
            </a:r>
          </a:p>
          <a:p>
            <a:r>
              <a:t>Team / project name: Genesis (repository project name)</a:t>
            </a:r>
          </a:p>
          <a:p>
            <a:r>
              <a:t>Team leader: not recorded in the codebase</a:t>
            </a:r>
          </a:p>
          <a:p>
            <a:r>
              <a:t>Problem statement: help analysts assess transaction alerts with traceable evidence,
structured AI explanations and controlled learning from actual reviews.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b085bff3c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b085bff3c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Repository-grounded content. No new model calls, cloud changes or human feedback created.</a:t>
            </a:r>
          </a:p>
          <a:p>
            <a:r>
              <a:t>Sources: README.md, docs/pending-tasks.md, backend/engine.py</a:t>
            </a:r>
          </a:p>
          <a:p>
            <a:r>
              <a:t>Slide text:</a:t>
            </a:r>
          </a:p>
          <a:p>
            <a:r>
              <a:t>Actual local Evolution rule matrix
Seeded reference outcomes, not human verdicts.</a:t>
            </a:r>
          </a:p>
          <a:p>
            <a:r>
              <a:t>AML Insight / Genesis</a:t>
            </a:r>
          </a:p>
          <a:p>
            <a:r>
              <a:t>A working investigation workspace
for synthetic financial-crime cases.</a:t>
            </a:r>
          </a:p>
          <a:p>
            <a:r>
              <a:t>Nine deterministic detectors
Six focused workflow roles
Evidence-linked Gemini assistance
Analyst-owned decisions</a:t>
            </a:r>
          </a:p>
          <a:p>
            <a:r>
              <a:t>Current source: local prototype; earlier private cloud staging.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Repository-grounded content. No new model calls, cloud changes or human feedback created.</a:t>
            </a:r>
          </a:p>
          <a:p>
            <a:r>
              <a:t>Sources: backend/engine.py, backend/jobs.py, backend/evolution.py, backend/baseline_workspace.py, docs/pending-tasks.md</a:t>
            </a:r>
          </a:p>
          <a:p>
            <a:r>
              <a:t>Slide text:</a:t>
            </a:r>
          </a:p>
          <a:p>
            <a:r>
              <a:t>Brief about the idea</a:t>
            </a:r>
          </a:p>
          <a:p>
            <a:r>
              <a:t>AML Insight / Genesis  |  Repository evidence, 18 October 2026</a:t>
            </a:r>
          </a:p>
          <a:p>
            <a:r>
              <a:t>03</a:t>
            </a:r>
          </a:p>
          <a:p>
            <a:r>
              <a:t>Turn transaction alerts into evidence-linked investigations, then learn from genuine analyst outcomes.</a:t>
            </a:r>
          </a:p>
          <a:p>
            <a:r>
              <a:t>Investigate</a:t>
            </a:r>
          </a:p>
          <a:p>
            <a:r>
              <a:t>Python enriches source facts and computes risk. Gemini explains, categorizes and writes a cited brief.</a:t>
            </a:r>
          </a:p>
          <a:p>
            <a:r>
              <a:t>Review</a:t>
            </a:r>
          </a:p>
          <a:p>
            <a:r>
              <a:t>The analyst inspects source history, model findings and uncertainty, then saves a frozen verdict.</a:t>
            </a:r>
          </a:p>
          <a:p>
            <a:r>
              <a:t>Learn carefully</a:t>
            </a:r>
          </a:p>
          <a:p>
            <a:r>
              <a:t>Evolution separates evidence sources and tests cutoff candidates before explicit application or rollback.</a:t>
            </a:r>
          </a:p>
          <a:p>
            <a:r>
              <a:t>Current workspace: 3,000 synthetic cases / 200 identities / nine detector rules.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Repository-grounded content. No new model calls, cloud changes or human feedback created.</a:t>
            </a:r>
          </a:p>
          <a:p>
            <a:r>
              <a:t>Sources: backend/engine.py, backend/gateway.py, backend/calibration.py, backend/projected_reviews.py</a:t>
            </a:r>
          </a:p>
          <a:p>
            <a:r>
              <a:t>Slide text:</a:t>
            </a:r>
          </a:p>
          <a:p>
            <a:r>
              <a:t>Opportunities and proposed USP</a:t>
            </a:r>
          </a:p>
          <a:p>
            <a:r>
              <a:t>AML Insight / Genesis  |  Repository evidence, 18 October 2026</a:t>
            </a:r>
          </a:p>
          <a:p>
            <a:r>
              <a:t>04</a:t>
            </a:r>
          </a:p>
          <a:p>
            <a:r>
              <a:t>How it differs</a:t>
            </a:r>
          </a:p>
          <a:p>
            <a:r>
              <a:t>Combines deterministic risk arithmetic with evidence-linked AI output, a sealed attempt ledger and a separate learning workflow.
No external competitor comparison is established by the code.</a:t>
            </a:r>
          </a:p>
          <a:p>
            <a:r>
              <a:t>How it solves the problem</a:t>
            </a:r>
          </a:p>
          <a:p>
            <a:r>
              <a:t>Keeps source history, scores, counter-evidence and suggestions in one case view.
Structured validation rejects unsupported citation IDs and preserves uncertainty for analyst attention.</a:t>
            </a:r>
          </a:p>
          <a:p>
            <a:r>
              <a:t>Proposed USP</a:t>
            </a:r>
          </a:p>
          <a:p>
            <a:r>
              <a:t>Traceable assistance with controlled adaptation: source labels, model opinions, drafts and human verdicts stay separate.
Python validates candidates; a model recommendation cannot apply itself.</a:t>
            </a:r>
          </a:p>
          <a:p>
            <a:r>
              <a:t>Value proposition is implemented in the workflow; real-world productivity gains are not yet measured.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Repository-grounded content. No new model calls, cloud changes or human feedback created.</a:t>
            </a:r>
          </a:p>
          <a:p>
            <a:r>
              <a:t>Sources: backend/engine.py, backend/jobs.py, backend/usage.py, backend/rule_intelligence.py, frontend/main.tsx</a:t>
            </a:r>
          </a:p>
          <a:p>
            <a:r>
              <a:t>Slide text:</a:t>
            </a:r>
          </a:p>
          <a:p>
            <a:r>
              <a:t>Features offered by the solution</a:t>
            </a:r>
          </a:p>
          <a:p>
            <a:r>
              <a:t>AML Insight / Genesis  |  Repository evidence, 18 October 2026</a:t>
            </a:r>
          </a:p>
          <a:p>
            <a:r>
              <a:t>05</a:t>
            </a:r>
          </a:p>
          <a:p>
            <a:r>
              <a:t>Nine alert rules</a:t>
            </a:r>
          </a:p>
          <a:p>
            <a:r>
              <a:t>High value, crypto, PEP, post-death, dormant, multi-currency, cash, foreign wire and structuring.</a:t>
            </a:r>
          </a:p>
          <a:p>
            <a:r>
              <a:t>Explainable risk</a:t>
            </a:r>
          </a:p>
          <a:p>
            <a:r>
              <a:t>Five Python-owned dimensions: transaction 30%, customer 25%, account 15%, behavior 20%, network 10%.</a:t>
            </a:r>
          </a:p>
          <a:p>
            <a:r>
              <a:t>Case investigation</a:t>
            </a:r>
          </a:p>
          <a:p>
            <a:r>
              <a:t>Identity/account links, source trail, risk explanation, typology, brief and agent traces.</a:t>
            </a:r>
          </a:p>
          <a:p>
            <a:r>
              <a:t>Durable execution</a:t>
            </a:r>
          </a:p>
          <a:p>
            <a:r>
              <a:t>Parent/child runs, leases, checkpoints, deduplication and bounded retry handling.</a:t>
            </a:r>
          </a:p>
          <a:p>
            <a:r>
              <a:t>Evolution lab</a:t>
            </a:r>
          </a:p>
          <a:p>
            <a:r>
              <a:t>Nine-rule matrix; separate reference, simulated and human outcomes; gated cutoff learning.</a:t>
            </a:r>
          </a:p>
          <a:p>
            <a:r>
              <a:t>Usage and access</a:t>
            </a:r>
          </a:p>
          <a:p>
            <a:r>
              <a:t>Per-attempt tokens/cost status, daily controls, operator/admin allowlists and private outputs.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Repository-grounded content. No new model calls, cloud changes or human feedback created.</a:t>
            </a:r>
          </a:p>
          <a:p>
            <a:r>
              <a:t>Sources: backend/jobs.py, backend/engine.py, backend/evolution.py, backend/calibration.py</a:t>
            </a:r>
          </a:p>
          <a:p>
            <a:r>
              <a:t>Slide text:</a:t>
            </a:r>
          </a:p>
          <a:p>
            <a:r>
              <a:t>Process flow / use case</a:t>
            </a:r>
          </a:p>
          <a:p>
            <a:r>
              <a:t>AML Insight / Genesis  |  Repository evidence, 18 October 2026</a:t>
            </a:r>
          </a:p>
          <a:p>
            <a:r>
              <a:t>06</a:t>
            </a:r>
          </a:p>
          <a:p>
            <a:r>
              <a:t>Investigation: sequential stages, with source facts and risk owned by Python</a:t>
            </a:r>
          </a:p>
          <a:p>
            <a:r>
              <a:t>Source rules</a:t>
            </a:r>
          </a:p>
          <a:p>
            <a:r>
              <a:t>Transaction / alert</a:t>
            </a:r>
          </a:p>
          <a:p>
            <a:r>
              <a:t>A1</a:t>
            </a:r>
          </a:p>
          <a:p>
            <a:r>
              <a:t>Evidence enrichment</a:t>
            </a:r>
          </a:p>
          <a:p>
            <a:r>
              <a:t>A2</a:t>
            </a:r>
          </a:p>
          <a:p>
            <a:r>
              <a:t>Risk explanation</a:t>
            </a:r>
          </a:p>
          <a:p>
            <a:r>
              <a:t>A3</a:t>
            </a:r>
          </a:p>
          <a:p>
            <a:r>
              <a:t>Typology / action</a:t>
            </a:r>
          </a:p>
          <a:p>
            <a:r>
              <a:t>A4</a:t>
            </a:r>
          </a:p>
          <a:p>
            <a:r>
              <a:t>Cited case brief</a:t>
            </a:r>
          </a:p>
          <a:p>
            <a:r>
              <a:t>A0</a:t>
            </a:r>
          </a:p>
          <a:p>
            <a:r>
              <a:t>Priority / pre-label</a:t>
            </a:r>
          </a:p>
          <a:p>
            <a:r>
              <a:t>Decision and learning: human feedback is required; generated labels do not qualify</a:t>
            </a:r>
          </a:p>
          <a:p>
            <a:r>
              <a:t>Analyst verdict</a:t>
            </a:r>
          </a:p>
          <a:p>
            <a:r>
              <a:t>Frozen feedback</a:t>
            </a:r>
          </a:p>
          <a:p>
            <a:r>
              <a:t>A5 Evolution</a:t>
            </a:r>
          </a:p>
          <a:p>
            <a:r>
              <a:t>Frozen evidence</a:t>
            </a:r>
          </a:p>
          <a:p>
            <a:r>
              <a:t>Python candidate</a:t>
            </a:r>
          </a:p>
          <a:p>
            <a:r>
              <a:t>Fit + validation</a:t>
            </a:r>
          </a:p>
          <a:p>
            <a:r>
              <a:t>Explicit approval</a:t>
            </a:r>
          </a:p>
          <a:p>
            <a:r>
              <a:t>Apply / observe / rollback</a:t>
            </a:r>
          </a:p>
          <a:p>
            <a:r>
              <a:t>Missing context or protected signals require attention. AI output never becomes a human verdict.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Repository-grounded content. No new model calls, cloud changes or human feedback created.</a:t>
            </a:r>
          </a:p>
          <a:p>
            <a:r>
              <a:t>Sources: frontend/main.tsx, frontend/BulkWorkspace.tsx, frontend/RuleIntelligence.tsx, frontend/OperatorReview.tsx</a:t>
            </a:r>
          </a:p>
          <a:p>
            <a:r>
              <a:t>Slide text:</a:t>
            </a:r>
          </a:p>
          <a:p>
            <a:r>
              <a:t>Wireframes / source-based screen map</a:t>
            </a:r>
          </a:p>
          <a:p>
            <a:r>
              <a:t>AML Insight / Genesis  |  Repository evidence, 18 October 2026</a:t>
            </a:r>
          </a:p>
          <a:p>
            <a:r>
              <a:t>07</a:t>
            </a:r>
          </a:p>
          <a:p>
            <a:r>
              <a:t>INVESTIGATIONS</a:t>
            </a:r>
          </a:p>
          <a:p>
            <a:r>
              <a:t>CASE DETAILS</a:t>
            </a:r>
          </a:p>
          <a:p>
            <a:r>
              <a:t>EVOLUTION LAB</a:t>
            </a:r>
          </a:p>
          <a:p>
            <a:r>
              <a:t>Dataset / coverage counters</a:t>
            </a:r>
          </a:p>
          <a:p>
            <a:r>
              <a:t>Identity + rule + status filters</a:t>
            </a:r>
          </a:p>
          <a:p>
            <a:r>
              <a:t>Paged investigation queue</a:t>
            </a:r>
          </a:p>
          <a:p>
            <a:r>
              <a:t>View details / reference</a:t>
            </a:r>
          </a:p>
          <a:p>
            <a:r>
              <a:t>Explicit triage preview</a:t>
            </a:r>
          </a:p>
          <a:p>
            <a:r>
              <a:t>Identity / account / trigger</a:t>
            </a:r>
          </a:p>
          <a:p>
            <a:r>
              <a:t>Risk dimensions + evidence</a:t>
            </a:r>
          </a:p>
          <a:p>
            <a:r>
              <a:t>A2 → A3 → A4 → A0 trace</a:t>
            </a:r>
          </a:p>
          <a:p>
            <a:r>
              <a:t>Transactions / citations</a:t>
            </a:r>
          </a:p>
          <a:p>
            <a:r>
              <a:t>Saved analyst verdict</a:t>
            </a:r>
          </a:p>
          <a:p>
            <a:r>
              <a:t>Outcomes / Understand / Learn</a:t>
            </a:r>
          </a:p>
          <a:p>
            <a:r>
              <a:t>Reference / simulated / human</a:t>
            </a:r>
          </a:p>
          <a:p>
            <a:r>
              <a:t>Nine-rule matrix + trends</a:t>
            </a:r>
          </a:p>
          <a:p>
            <a:r>
              <a:t>Candidate evidence + validation</a:t>
            </a:r>
          </a:p>
          <a:p>
            <a:r>
              <a:t>Apply / Observe / rollback</a:t>
            </a:r>
          </a:p>
          <a:p>
            <a:r>
              <a:t>Read-only browsing; explicit actions.</a:t>
            </a:r>
          </a:p>
          <a:p>
            <a:r>
              <a:t>Private outputs require operator access.</a:t>
            </a:r>
          </a:p>
          <a:p>
            <a:r>
              <a:t>Simulation is labeled; no silent activation.</a:t>
            </a:r>
          </a:p>
          <a:p>
            <a:r>
              <a:t>Schematic of existing components; actual prototype screenshots follow on slide 11.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Repository-grounded content. No new model calls, cloud changes or human feedback created.</a:t>
            </a:r>
          </a:p>
          <a:p>
            <a:r>
              <a:t>Sources: backend/api.py, backend/worker.py, backend/dispatch.py, backend/repository.py, backend/gateway.py, Dockerfile</a:t>
            </a:r>
          </a:p>
          <a:p>
            <a:r>
              <a:t>Slide text:</a:t>
            </a:r>
          </a:p>
          <a:p>
            <a:r>
              <a:t>Architecture of the solution</a:t>
            </a:r>
          </a:p>
          <a:p>
            <a:r>
              <a:t>AML Insight / Genesis  |  Repository evidence, 18 October 2026</a:t>
            </a:r>
          </a:p>
          <a:p>
            <a:r>
              <a:t>08</a:t>
            </a:r>
          </a:p>
          <a:p>
            <a:r>
              <a:t>Browser</a:t>
            </a:r>
          </a:p>
          <a:p>
            <a:r>
              <a:t>React / TypeScript / Vite</a:t>
            </a:r>
          </a:p>
          <a:p>
            <a:r>
              <a:t>Cloud Run: web</a:t>
            </a:r>
          </a:p>
          <a:p>
            <a:r>
              <a:t>FastAPI / web + private API</a:t>
            </a:r>
          </a:p>
          <a:p>
            <a:r>
              <a:t>Firebase Auth</a:t>
            </a:r>
          </a:p>
          <a:p>
            <a:r>
              <a:t>Human sign-in / UID allowlists</a:t>
            </a:r>
          </a:p>
          <a:p>
            <a:r>
              <a:t>Firestore</a:t>
            </a:r>
          </a:p>
          <a:p>
            <a:r>
              <a:t>Sources / runs / reviews / versions</a:t>
            </a:r>
          </a:p>
          <a:p>
            <a:r>
              <a:t>Cloud Tasks</a:t>
            </a:r>
          </a:p>
          <a:p>
            <a:r>
              <a:t>Named jobs / OIDC delivery</a:t>
            </a:r>
          </a:p>
          <a:p>
            <a:r>
              <a:t>Cloud Run: worker</a:t>
            </a:r>
          </a:p>
          <a:p>
            <a:r>
              <a:t>Leases / stages / attempt ledger</a:t>
            </a:r>
          </a:p>
          <a:p>
            <a:r>
              <a:t>Web ↔ Firestore   •   Web → Tasks → worker   •   Worker ↔ Firestore</a:t>
            </a:r>
          </a:p>
          <a:p>
            <a:r>
              <a:t>Worker → Gemini via google-genai
Managed cloud identity; separate opt-in local Developer API path.</a:t>
            </a:r>
          </a:p>
          <a:p>
            <a:r>
              <a:t>Cloud deployment design in code; earlier private staging exists, newest local source is not deployed.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Repository-grounded content. No new model calls, cloud changes or human feedback created.</a:t>
            </a:r>
          </a:p>
          <a:p>
            <a:r>
              <a:t>Sources: package.json, pyproject.toml, backend/gateway.py, backend/agent_profiles.py, Dockerfile</a:t>
            </a:r>
          </a:p>
          <a:p>
            <a:r>
              <a:t>Slide text:</a:t>
            </a:r>
          </a:p>
          <a:p>
            <a:r>
              <a:t>Technologies used in the solution</a:t>
            </a:r>
          </a:p>
          <a:p>
            <a:r>
              <a:t>AML Insight / Genesis  |  Repository evidence, 18 October 2026</a:t>
            </a:r>
          </a:p>
          <a:p>
            <a:r>
              <a:t>09</a:t>
            </a:r>
          </a:p>
          <a:p>
            <a:r>
              <a:t>Frontend</a:t>
            </a:r>
          </a:p>
          <a:p>
            <a:r>
              <a:t>React 19, TypeScript, Vite; Firebase web SDK; accessible native dialogs.</a:t>
            </a:r>
          </a:p>
          <a:p>
            <a:r>
              <a:t>Backend</a:t>
            </a:r>
          </a:p>
          <a:p>
            <a:r>
              <a:t>Python 3.12, FastAPI, Uvicorn and Pydantic; deterministic detection/scoring.</a:t>
            </a:r>
          </a:p>
          <a:p>
            <a:r>
              <a:t>Google AI</a:t>
            </a:r>
          </a:p>
          <a:p>
            <a:r>
              <a:t>google-genai SDK; structured Gemini JSON, citations, per-leg model profiles and token budgets.</a:t>
            </a:r>
          </a:p>
          <a:p>
            <a:r>
              <a:t>Data / identity</a:t>
            </a:r>
          </a:p>
          <a:p>
            <a:r>
              <a:t>Firestore, Firebase Authentication; emulator-backed local development.</a:t>
            </a:r>
          </a:p>
          <a:p>
            <a:r>
              <a:t>Deployment</a:t>
            </a:r>
          </a:p>
          <a:p>
            <a:r>
              <a:t>Cloud Run web + worker; Cloud Tasks; Artifact Registry; Cloud Build; Secret Manager / ADC.</a:t>
            </a:r>
          </a:p>
          <a:p>
            <a:r>
              <a:t>Verification</a:t>
            </a:r>
          </a:p>
          <a:p>
            <a:r>
              <a:t>pytest, Firebase emulator integration tests, TypeScript checks and Playwright browser journeys.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Repository-grounded content. No new model calls, cloud changes or human feedback created.</a:t>
            </a:r>
          </a:p>
          <a:p>
            <a:r>
              <a:t>Sources: backend/pricing.py, backend/usage.py, backend/prompts.py, docs/deployment-recovery.md</a:t>
            </a:r>
          </a:p>
          <a:p>
            <a:r>
              <a:t>Slide text:</a:t>
            </a:r>
          </a:p>
          <a:p>
            <a:r>
              <a:t>Estimated implementation cost</a:t>
            </a:r>
          </a:p>
          <a:p>
            <a:r>
              <a:t>AML Insight / Genesis  |  Repository evidence, 18 October 2026</a:t>
            </a:r>
          </a:p>
          <a:p>
            <a:r>
              <a:t>10</a:t>
            </a:r>
          </a:p>
          <a:p>
            <a:r>
              <a:t>What the repository records</a:t>
            </a:r>
          </a:p>
          <a:p>
            <a:r>
              <a:t>Earlier build: 118.60 seconds; recorded compute list-rate estimate US$0.01186, before free allowances.
Not an invoice or a complete project cost.</a:t>
            </a:r>
          </a:p>
          <a:p>
            <a:r>
              <a:t>What is not established</a:t>
            </a:r>
          </a:p>
          <a:p>
            <a:r>
              <a:t>No labor-cost estimate or final monthly bill is recorded. Model cost remains UNKNOWN unless a matching verified rate card and usage are available.</a:t>
            </a:r>
          </a:p>
          <a:p>
            <a:r>
              <a:t>Configured token ceilings per investigation (before retries)</a:t>
            </a:r>
          </a:p>
          <a:p>
            <a:r>
              <a:t>A2: 4,096 input / 1,536 generated   •   A3: 2,048 / 768   •   A4: 4,096 / 2,048
Total A2–A4: 10,240 input / 4,352 generated. A5 is separate: 8,192 / 3,072.</a:t>
            </a:r>
          </a:p>
          <a:p>
            <a:r>
              <a:t>Controls: scale 0–1 in recorded staging, daily attempt controls and paused dispatch.
The recorded AUD 6 alerts-only budget is not a spending cap; storage/network/build costs are separate.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Repository-grounded content. No new model calls, cloud changes or human feedback created.</a:t>
            </a:r>
          </a:p>
          <a:p>
            <a:r>
              <a:t>Sources: frontend/main.tsx, frontend/RuleIntelligence.tsx, docs/baseline-workspace.md</a:t>
            </a:r>
          </a:p>
          <a:p>
            <a:r>
              <a:t>Slide text:</a:t>
            </a:r>
          </a:p>
          <a:p>
            <a:r>
              <a:t>Snapshots of the prototype</a:t>
            </a:r>
          </a:p>
          <a:p>
            <a:r>
              <a:t>AML Insight / Genesis  |  Repository evidence, 18 October 2026</a:t>
            </a:r>
          </a:p>
          <a:p>
            <a:r>
              <a:t>11</a:t>
            </a:r>
          </a:p>
          <a:p>
            <a:r>
              <a:t>Actual local queue: 3,000 cases / 200 identities.</a:t>
            </a:r>
          </a:p>
          <a:p>
            <a:r>
              <a:t>Actual case-details dialog.
Synthetic customer data only.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Repository-grounded content. No new model calls, cloud changes or human feedback created.</a:t>
            </a:r>
          </a:p>
          <a:p>
            <a:r>
              <a:t>Sources: docs/code-improvements.md, docs/projected-analyst-baseline.md, docs/evaluation-record.json, docs/deployment-recovery.md</a:t>
            </a:r>
          </a:p>
          <a:p>
            <a:r>
              <a:t>Slide text:</a:t>
            </a:r>
          </a:p>
          <a:p>
            <a:r>
              <a:t>Prototype performance / benchmarking</a:t>
            </a:r>
          </a:p>
          <a:p>
            <a:r>
              <a:t>AML Insight / Genesis  |  Repository evidence, 18 October 2026</a:t>
            </a:r>
          </a:p>
          <a:p>
            <a:r>
              <a:t>12</a:t>
            </a:r>
          </a:p>
          <a:p>
            <a:r>
              <a:t>162</a:t>
            </a:r>
          </a:p>
          <a:p>
            <a:r>
              <a:t>unit tests passed</a:t>
            </a:r>
          </a:p>
          <a:p>
            <a:r>
              <a:t>25</a:t>
            </a:r>
          </a:p>
          <a:p>
            <a:r>
              <a:t>emulator integrations passed</a:t>
            </a:r>
          </a:p>
          <a:p>
            <a:r>
              <a:t>9</a:t>
            </a:r>
          </a:p>
          <a:p>
            <a:r>
              <a:t>detector rules covered</a:t>
            </a:r>
          </a:p>
          <a:p>
            <a:r>
              <a:t>Recorded completed checkpoint: CI-012; 25 integrations, zero integration skips.</a:t>
            </a:r>
          </a:p>
          <a:p>
            <a:r>
              <a:t>What was exercised</a:t>
            </a:r>
          </a:p>
          <a:p>
            <a:r>
              <a:t>Source integrity, scoped access, deduplication, projections and browser layouts from 320–1440 px. TypeScript and design checks passed.</a:t>
            </a:r>
          </a:p>
          <a:p>
            <a:r>
              <a:t>What is not a benchmark</a:t>
            </a:r>
          </a:p>
          <a:p>
            <a:r>
              <a:t>No validated production accuracy, p95 latency, false-positive reduction or analyst-time saving is established. CI-013 is in progress.</a:t>
            </a:r>
          </a:p>
          <a:p>
            <a:r>
              <a:t>These are recorded verification results, not tests rerun for this deck or evidence of deployed-current-source performance.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Repository-grounded content. No new model calls, cloud changes or human feedback created.</a:t>
            </a:r>
          </a:p>
          <a:p>
            <a:r>
              <a:t>Sources: docs/pending-tasks.md, backend/calibration.py, backend/publisher.py, docs/operator-staging-login.md</a:t>
            </a:r>
          </a:p>
          <a:p>
            <a:r>
              <a:t>Slide text:</a:t>
            </a:r>
          </a:p>
          <a:p>
            <a:r>
              <a:t>Additional details / future development</a:t>
            </a:r>
          </a:p>
          <a:p>
            <a:r>
              <a:t>AML Insight / Genesis  |  Repository evidence, 18 October 2026</a:t>
            </a:r>
          </a:p>
          <a:p>
            <a:r>
              <a:t>13</a:t>
            </a:r>
          </a:p>
          <a:p>
            <a:r>
              <a:t>Complete the current workflow</a:t>
            </a:r>
          </a:p>
          <a:p>
            <a:r>
              <a:t>Finish and verify the reserved-case genuine-batch work. Gather real analyst verdicts and measure outcomes; generated projections cannot satisfy learning gates.</a:t>
            </a:r>
          </a:p>
          <a:p>
            <a:r>
              <a:t>Validate improvement</a:t>
            </a:r>
          </a:p>
          <a:p>
            <a:r>
              <a:t>Require 30 conclusive genuine reviews overall and 15 eligible target-rule observations; then prospective validation on five new distinct identities.</a:t>
            </a:r>
          </a:p>
          <a:p>
            <a:r>
              <a:t>Deploy current source</a:t>
            </a:r>
          </a:p>
          <a:p>
            <a:r>
              <a:t>Build the verified current revision; validate publisher, Auth and private web/worker integration. Keep model/task activation explicit and bounded.</a:t>
            </a:r>
          </a:p>
          <a:p>
            <a:r>
              <a:t>Finish release artifacts</a:t>
            </a:r>
          </a:p>
          <a:p>
            <a:r>
              <a:t>Publish clean source, a signed-out prototype and a real video under three minutes. Keep private notes, held-out labels and credentials out of release assets.</a:t>
            </a:r>
          </a:p>
          <a:p>
            <a:r>
              <a:t>These are existing repository tasks, not new product promises or claimed completed capabilities.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Repository-grounded content. No new model calls, cloud changes or human feedback created.</a:t>
            </a:r>
          </a:p>
          <a:p>
            <a:r>
              <a:t>Sources: submission/github-repository/README.md, submission/demo-video/README.md, submission/deployed-prototype/README.md, docs/deployment-recovery.md</a:t>
            </a:r>
          </a:p>
          <a:p>
            <a:r>
              <a:t>Slide text:</a:t>
            </a:r>
          </a:p>
          <a:p>
            <a:r>
              <a:t>Repository, video and product links</a:t>
            </a:r>
          </a:p>
          <a:p>
            <a:r>
              <a:t>AML Insight / Genesis  |  Repository evidence, 18 October 2026</a:t>
            </a:r>
          </a:p>
          <a:p>
            <a:r>
              <a:t>14</a:t>
            </a:r>
          </a:p>
          <a:p>
            <a:r>
              <a:t>GitHub public repository</a:t>
            </a:r>
          </a:p>
          <a:p>
            <a:r>
              <a:t>No published public repository URL is recorded. Clean source-export copies exist in submission/github-repository/.</a:t>
            </a:r>
          </a:p>
          <a:p>
            <a:r>
              <a:t>Demo video — under three minutes</a:t>
            </a:r>
          </a:p>
          <a:p>
            <a:r>
              <a:t>No recorded video URL or measured duration is available. A 150-second recording script exists in submission/demo-video/.</a:t>
            </a:r>
          </a:p>
          <a:p>
            <a:r>
              <a:t>Final product link</a:t>
            </a:r>
          </a:p>
          <a:p>
            <a:r>
              <a:t>Local source preview: http://127.0.0.1:5173 — this workstation only. Earlier private Cloud Run staging is recorded; no signed-out public product URL is recorded.</a:t>
            </a:r>
          </a:p>
          <a:p>
            <a:r>
              <a:t>All three requested fields are answered from the repository; unavailable public links are not fabricated.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085bff3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Repository-grounded content. No new model calls, cloud changes or human feedback created.</a:t>
            </a:r>
          </a:p>
          <a:p>
            <a:r>
              <a:t>Sources: docs/baseline-workspace.md, docs/projected-analyst-baseline.md, backend/projected_reviews.py</a:t>
            </a:r>
          </a:p>
          <a:p>
            <a:r>
              <a:t>Slide text:</a:t>
            </a:r>
          </a:p>
          <a:p>
            <a:r>
              <a:t>Evidence boundaries: know what each count means</a:t>
            </a:r>
          </a:p>
          <a:p>
            <a:r>
              <a:t>AML Insight / Genesis  |  Repository evidence, 18 October 2026</a:t>
            </a:r>
          </a:p>
          <a:p>
            <a:r>
              <a:t>15</a:t>
            </a:r>
          </a:p>
          <a:p>
            <a:r>
              <a:t>2,000 advisory cases: coverage is not the same as human verification</a:t>
            </a:r>
          </a:p>
          <a:p>
            <a:r>
              <a:t>30 genuine Gemini advisories (1.5%) + 1,970 agent drafts (98.5%).</a:t>
            </a:r>
          </a:p>
          <a:p>
            <a:r>
              <a:t>Agent drafts have distinct provenance and no provider attempts or human-feedback claims.
1,000 reserved cases are excluded from advisory preprocessing.</a:t>
            </a:r>
          </a:p>
          <a:p>
            <a:r>
              <a:t>Simulated analyst assignments</a:t>
            </a:r>
          </a:p>
          <a:p>
            <a:r>
              <a:t>1,500 agree / 400 disagree / 100 uncertain. Generated training labels, not actual human verdicts.</a:t>
            </a:r>
          </a:p>
          <a:p>
            <a:r>
              <a:t>Current learning outcome</a:t>
            </a:r>
          </a:p>
          <a:p>
            <a:r>
              <a:t>No supported cutoff candidate in the recorded projection run. No operational policy changed.</a:t>
            </a:r>
          </a:p>
          <a:p>
            <a:r>
              <a:t>Reference labels, full investigations, Gemini advisories, agent drafts and human reviews remain separate.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Repository-grounded content. No new model calls, cloud changes or human feedback created.</a:t>
            </a:r>
          </a:p>
          <a:p>
            <a:r>
              <a:t>Sources: backend/engine.py, backend/gateway.py, backend/calibration.py</a:t>
            </a:r>
          </a:p>
          <a:p>
            <a:r>
              <a:t>Slide text:</a:t>
            </a:r>
          </a:p>
          <a:p>
            <a:r>
              <a:t>AML Insight / Genesis</a:t>
            </a:r>
          </a:p>
          <a:p>
            <a:r>
              <a:t>Evidence first.
AI assists. Analysts decide.
Learning requires validated outcomes.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4.png" /><Relationship Id="rId4" Type="http://schemas.openxmlformats.org/officeDocument/2006/relationships/image" Target="../media/image3.png" />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3.png" /><Relationship Id="rId4" Type="http://schemas.openxmlformats.org/officeDocument/2006/relationships/image" Target="../media/image1.png" /><Relationship Id="rIdGenesis1000" Type="http://schemas.openxmlformats.org/officeDocument/2006/relationships/image" Target="../media/genesis-evolution-matrix.png" />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2.png" 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4.xml" /><Relationship Id="rId3" Type="http://schemas.openxmlformats.org/officeDocument/2006/relationships/image" Target="../media/image3.png" /><Relationship Id="rId4" Type="http://schemas.openxmlformats.org/officeDocument/2006/relationships/image" Target="../media/image2.png" />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3.png" /><Relationship Id="rId4" Type="http://schemas.openxmlformats.org/officeDocument/2006/relationships/image" Target="../media/image2.png" />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6.xml" /><Relationship Id="rId3" Type="http://schemas.openxmlformats.org/officeDocument/2006/relationships/image" Target="../media/image3.png" /><Relationship Id="rId4" Type="http://schemas.openxmlformats.org/officeDocument/2006/relationships/image" Target="../media/image2.png" />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7.xml" /><Relationship Id="rId3" Type="http://schemas.openxmlformats.org/officeDocument/2006/relationships/image" Target="../media/image3.png" /><Relationship Id="rId4" Type="http://schemas.openxmlformats.org/officeDocument/2006/relationships/image" Target="../media/image2.png" />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8.xml" /><Relationship Id="rId3" Type="http://schemas.openxmlformats.org/officeDocument/2006/relationships/image" Target="../media/image3.png" /><Relationship Id="rId4" Type="http://schemas.openxmlformats.org/officeDocument/2006/relationships/image" Target="../media/image2.png" />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9.xml" /><Relationship Id="rId3" Type="http://schemas.openxmlformats.org/officeDocument/2006/relationships/image" Target="../media/image3.png" /><Relationship Id="rId4" Type="http://schemas.openxmlformats.org/officeDocument/2006/relationships/image" Target="../media/image2.png" /></Relationships>
</file>

<file path=ppt/slides/_rels/slide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10.xml" /><Relationship Id="rId3" Type="http://schemas.openxmlformats.org/officeDocument/2006/relationships/image" Target="../media/image3.png" /><Relationship Id="rId4" Type="http://schemas.openxmlformats.org/officeDocument/2006/relationships/image" Target="../media/image2.png" /></Relationships>
</file>

<file path=ppt/slides/_rels/slide1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11.xml" /><Relationship Id="rId3" Type="http://schemas.openxmlformats.org/officeDocument/2006/relationships/image" Target="../media/image3.png" /><Relationship Id="rId4" Type="http://schemas.openxmlformats.org/officeDocument/2006/relationships/image" Target="../media/image2.png" /><Relationship Id="rIdGenesis1003" Type="http://schemas.openxmlformats.org/officeDocument/2006/relationships/image" Target="../media/genesis-investigations.png" /><Relationship Id="rIdGenesis1004" Type="http://schemas.openxmlformats.org/officeDocument/2006/relationships/image" Target="../media/genesis-case-details.png" /></Relationships>
</file>

<file path=ppt/slides/_rels/slide1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12.xml" /><Relationship Id="rId3" Type="http://schemas.openxmlformats.org/officeDocument/2006/relationships/image" Target="../media/image3.png" /><Relationship Id="rId4" Type="http://schemas.openxmlformats.org/officeDocument/2006/relationships/image" Target="../media/image2.png" /></Relationships>
</file>

<file path=ppt/slides/_rels/slide1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13.xml" /><Relationship Id="rId3" Type="http://schemas.openxmlformats.org/officeDocument/2006/relationships/image" Target="../media/image3.png" /><Relationship Id="rId4" Type="http://schemas.openxmlformats.org/officeDocument/2006/relationships/image" Target="../media/image2.png" /></Relationships>
</file>

<file path=ppt/slides/_rels/slide1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14.xml" /><Relationship Id="rId3" Type="http://schemas.openxmlformats.org/officeDocument/2006/relationships/image" Target="../media/image3.png" /><Relationship Id="rId4" Type="http://schemas.openxmlformats.org/officeDocument/2006/relationships/image" Target="../media/image2.png" /></Relationships>
</file>

<file path=ppt/slides/_rels/slide1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15.xml" /><Relationship Id="rId3" Type="http://schemas.openxmlformats.org/officeDocument/2006/relationships/image" Target="../media/image3.png" /><Relationship Id="rId4" Type="http://schemas.openxmlformats.org/officeDocument/2006/relationships/image" Target="../media/image2.png" /></Relationships>
</file>

<file path=ppt/slides/_rels/slide1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16.xml" /><Relationship Id="rId3" Type="http://schemas.openxmlformats.org/officeDocument/2006/relationships/image" Target="../media/image3.png" /><Relationship Id="rId4" Type="http://schemas.openxmlformats.org/officeDocument/2006/relationships/image" Target="../media/image5.png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0" name="Genesis text 1000"/>
          <p:cNvSpPr txBox="1"/>
          <p:nvPr/>
        </p:nvSpPr>
        <p:spPr>
          <a:xfrm>
            <a:off x="361950" y="2876550"/>
            <a:ext cx="8477250" cy="3810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2100" b="1" dirty="0">
                <a:solidFill>
                  <a:srgbClr val="17243B"/>
                </a:solidFill>
                <a:latin typeface="Arial"/>
              </a:rPr>
              <a:t>AML Insight — evidence-backed AML investigations</a:t>
            </a:r>
          </a:p>
        </p:txBody>
      </p:sp>
      <p:sp>
        <p:nvSpPr>
          <p:cNvPr id="1001" name="Genesis text 1001"/>
          <p:cNvSpPr txBox="1"/>
          <p:nvPr/>
        </p:nvSpPr>
        <p:spPr>
          <a:xfrm>
            <a:off x="381000" y="3352800"/>
            <a:ext cx="8382000" cy="2667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350" b="0" dirty="0">
                <a:solidFill>
                  <a:srgbClr val="17243B"/>
                </a:solidFill>
                <a:latin typeface="Arial"/>
              </a:rPr>
              <a:t>Team / project name: Genesis (repository project name)</a:t>
            </a:r>
          </a:p>
        </p:txBody>
      </p:sp>
      <p:sp>
        <p:nvSpPr>
          <p:cNvPr id="1002" name="Genesis text 1002"/>
          <p:cNvSpPr txBox="1"/>
          <p:nvPr/>
        </p:nvSpPr>
        <p:spPr>
          <a:xfrm>
            <a:off x="381000" y="3686175"/>
            <a:ext cx="8382000" cy="2571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275" b="0" dirty="0">
                <a:solidFill>
                  <a:srgbClr val="52627B"/>
                </a:solidFill>
                <a:latin typeface="Arial"/>
              </a:rPr>
              <a:t>Team leader: not recorded in the codebase</a:t>
            </a:r>
          </a:p>
        </p:txBody>
      </p:sp>
      <p:sp>
        <p:nvSpPr>
          <p:cNvPr id="1003" name="Genesis text 1003"/>
          <p:cNvSpPr txBox="1"/>
          <p:nvPr/>
        </p:nvSpPr>
        <p:spPr>
          <a:xfrm>
            <a:off x="381000" y="4057650"/>
            <a:ext cx="8382000" cy="6191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425" b="0" dirty="0">
                <a:solidFill>
                  <a:srgbClr val="17243B"/>
                </a:solidFill>
                <a:latin typeface="Arial"/>
              </a:rPr>
              <a:t>Problem statement: help analysts assess transaction alerts with traceable evidence,</a:t>
            </a:r>
          </a:p>
          <a:p>
            <a:pPr algn="l" marL="0" indent="0">
              <a:lnSpc>
                <a:spcPct val="116000"/>
              </a:lnSpc>
              <a:buNone/>
            </a:pPr>
            <a:r>
              <a:rPr lang="en-AU" sz="1425" b="0" dirty="0">
                <a:solidFill>
                  <a:srgbClr val="17243B"/>
                </a:solidFill>
                <a:latin typeface="Arial"/>
              </a:rPr>
              <a:t>structured AI explanations and controlled learning from actual reviews.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00" name="evolution-matrix" descr="Actual local prototype screenshot; synthetic data."/>
          <p:cNvPicPr/>
          <p:nvPr/>
        </p:nvPicPr>
        <p:blipFill>
          <a:blip r:embed="rIdGenesis1000"/>
          <a:stretch>
            <a:fillRect/>
          </a:stretch>
        </p:blipFill>
        <p:spPr>
          <a:xfrm>
            <a:off x="1372023" y="1047750"/>
            <a:ext cx="2513755" cy="3190875"/>
          </a:xfrm>
          <a:prstGeom prst="rect">
            <a:avLst/>
          </a:prstGeom>
        </p:spPr>
      </p:pic>
      <p:sp>
        <p:nvSpPr>
          <p:cNvPr id="1001" name="Genesis text 1001"/>
          <p:cNvSpPr txBox="1"/>
          <p:nvPr/>
        </p:nvSpPr>
        <p:spPr>
          <a:xfrm>
            <a:off x="866775" y="4381500"/>
            <a:ext cx="3571875" cy="333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 marL="0" indent="0">
              <a:lnSpc>
                <a:spcPct val="116000"/>
              </a:lnSpc>
              <a:buNone/>
            </a:pPr>
            <a:r>
              <a:rPr lang="en-AU" sz="1050" b="0" dirty="0">
                <a:solidFill>
                  <a:srgbClr val="CCD6ED"/>
                </a:solidFill>
                <a:latin typeface="Arial"/>
              </a:rPr>
              <a:t>Actual local Evolution rule matrix</a:t>
            </a:r>
          </a:p>
          <a:p>
            <a:pPr algn="ctr" marL="0" indent="0">
              <a:lnSpc>
                <a:spcPct val="116000"/>
              </a:lnSpc>
              <a:buNone/>
            </a:pPr>
            <a:r>
              <a:rPr lang="en-AU" sz="1050" b="0" dirty="0">
                <a:solidFill>
                  <a:srgbClr val="CCD6ED"/>
                </a:solidFill>
                <a:latin typeface="Arial"/>
              </a:rPr>
              <a:t>Seeded reference outcomes, not human verdicts.</a:t>
            </a:r>
          </a:p>
        </p:txBody>
      </p:sp>
      <p:sp>
        <p:nvSpPr>
          <p:cNvPr id="1002" name="Genesis text 1002"/>
          <p:cNvSpPr txBox="1"/>
          <p:nvPr/>
        </p:nvSpPr>
        <p:spPr>
          <a:xfrm>
            <a:off x="4953000" y="904875"/>
            <a:ext cx="3714750" cy="3810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2025" b="1" dirty="0">
                <a:solidFill>
                  <a:srgbClr val="FFFFFF"/>
                </a:solidFill>
                <a:latin typeface="Arial"/>
              </a:rPr>
              <a:t>AML Insight / Genesis</a:t>
            </a:r>
          </a:p>
        </p:txBody>
      </p:sp>
      <p:sp>
        <p:nvSpPr>
          <p:cNvPr id="1003" name="Genesis text 1003"/>
          <p:cNvSpPr txBox="1"/>
          <p:nvPr/>
        </p:nvSpPr>
        <p:spPr>
          <a:xfrm>
            <a:off x="4953000" y="1428750"/>
            <a:ext cx="3714750" cy="10477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725" b="0" dirty="0">
                <a:solidFill>
                  <a:srgbClr val="FFFFFF"/>
                </a:solidFill>
                <a:latin typeface="Arial"/>
              </a:rPr>
              <a:t>A working investigation workspace</a:t>
            </a:r>
          </a:p>
          <a:p>
            <a:pPr algn="l" marL="0" indent="0">
              <a:lnSpc>
                <a:spcPct val="116000"/>
              </a:lnSpc>
              <a:buNone/>
            </a:pPr>
            <a:r>
              <a:rPr lang="en-AU" sz="1725" b="0" dirty="0">
                <a:solidFill>
                  <a:srgbClr val="FFFFFF"/>
                </a:solidFill>
                <a:latin typeface="Arial"/>
              </a:rPr>
              <a:t>for synthetic financial-crime cases.</a:t>
            </a:r>
          </a:p>
        </p:txBody>
      </p:sp>
      <p:sp>
        <p:nvSpPr>
          <p:cNvPr id="1004" name="Genesis text 1004"/>
          <p:cNvSpPr txBox="1"/>
          <p:nvPr/>
        </p:nvSpPr>
        <p:spPr>
          <a:xfrm>
            <a:off x="4953000" y="2619375"/>
            <a:ext cx="3714750" cy="13335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500" b="0" dirty="0">
                <a:solidFill>
                  <a:srgbClr val="FFFFFF"/>
                </a:solidFill>
                <a:latin typeface="Arial"/>
              </a:rPr>
              <a:t>Nine deterministic detectors</a:t>
            </a:r>
          </a:p>
          <a:p>
            <a:pPr algn="l" marL="0" indent="0">
              <a:lnSpc>
                <a:spcPct val="116000"/>
              </a:lnSpc>
              <a:buNone/>
            </a:pPr>
            <a:r>
              <a:rPr lang="en-AU" sz="1500" b="0" dirty="0">
                <a:solidFill>
                  <a:srgbClr val="FFFFFF"/>
                </a:solidFill>
                <a:latin typeface="Arial"/>
              </a:rPr>
              <a:t>Six focused workflow roles</a:t>
            </a:r>
          </a:p>
          <a:p>
            <a:pPr algn="l" marL="0" indent="0">
              <a:lnSpc>
                <a:spcPct val="116000"/>
              </a:lnSpc>
              <a:buNone/>
            </a:pPr>
            <a:r>
              <a:rPr lang="en-AU" sz="1500" b="0" dirty="0">
                <a:solidFill>
                  <a:srgbClr val="FFFFFF"/>
                </a:solidFill>
                <a:latin typeface="Arial"/>
              </a:rPr>
              <a:t>Evidence-linked Gemini assistance</a:t>
            </a:r>
          </a:p>
          <a:p>
            <a:pPr algn="l" marL="0" indent="0">
              <a:lnSpc>
                <a:spcPct val="116000"/>
              </a:lnSpc>
              <a:buNone/>
            </a:pPr>
            <a:r>
              <a:rPr lang="en-AU" sz="1500" b="0" dirty="0">
                <a:solidFill>
                  <a:srgbClr val="FFFFFF"/>
                </a:solidFill>
                <a:latin typeface="Arial"/>
              </a:rPr>
              <a:t>Analyst-owned decisions</a:t>
            </a:r>
          </a:p>
        </p:txBody>
      </p:sp>
      <p:sp>
        <p:nvSpPr>
          <p:cNvPr id="1005" name="Genesis text 1005"/>
          <p:cNvSpPr txBox="1"/>
          <p:nvPr/>
        </p:nvSpPr>
        <p:spPr>
          <a:xfrm>
            <a:off x="4953000" y="4286250"/>
            <a:ext cx="3714750" cy="333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050" b="0" dirty="0">
                <a:solidFill>
                  <a:srgbClr val="CCD6ED"/>
                </a:solidFill>
                <a:latin typeface="Arial"/>
              </a:rPr>
              <a:t>Current source: local prototype; earlier private cloud staging.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enesis text 1000"/>
          <p:cNvSpPr txBox="1"/>
          <p:nvPr/>
        </p:nvSpPr>
        <p:spPr>
          <a:xfrm>
            <a:off x="304800" y="742950"/>
            <a:ext cx="8524875" cy="4286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2025" b="1" dirty="0">
                <a:solidFill>
                  <a:srgbClr val="17243B"/>
                </a:solidFill>
                <a:latin typeface="Arial"/>
              </a:rPr>
              <a:t>Brief about the idea</a:t>
            </a:r>
          </a:p>
        </p:txBody>
      </p:sp>
      <p:sp>
        <p:nvSpPr>
          <p:cNvPr id="1001" name="Genesis text 1001"/>
          <p:cNvSpPr txBox="1"/>
          <p:nvPr/>
        </p:nvSpPr>
        <p:spPr>
          <a:xfrm>
            <a:off x="323850" y="4810125"/>
            <a:ext cx="8096250" cy="1809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825" b="0" dirty="0">
                <a:solidFill>
                  <a:srgbClr val="52627B"/>
                </a:solidFill>
                <a:latin typeface="Arial"/>
              </a:rPr>
              <a:t>AML Insight / Genesis  |  Repository evidence, 18 October 2026</a:t>
            </a:r>
          </a:p>
        </p:txBody>
      </p:sp>
      <p:sp>
        <p:nvSpPr>
          <p:cNvPr id="1002" name="Genesis text 1002"/>
          <p:cNvSpPr txBox="1"/>
          <p:nvPr/>
        </p:nvSpPr>
        <p:spPr>
          <a:xfrm>
            <a:off x="8429625" y="4810125"/>
            <a:ext cx="400050" cy="1809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r" marL="0" indent="0">
              <a:lnSpc>
                <a:spcPct val="116000"/>
              </a:lnSpc>
              <a:buNone/>
            </a:pPr>
            <a:r>
              <a:rPr lang="en-AU" sz="825" b="0" dirty="0">
                <a:solidFill>
                  <a:srgbClr val="52627B"/>
                </a:solidFill>
                <a:latin typeface="Arial"/>
              </a:rPr>
              <a:t>03</a:t>
            </a:r>
          </a:p>
        </p:txBody>
      </p:sp>
      <p:sp>
        <p:nvSpPr>
          <p:cNvPr id="1003" name="Genesis text 1003"/>
          <p:cNvSpPr txBox="1"/>
          <p:nvPr/>
        </p:nvSpPr>
        <p:spPr>
          <a:xfrm>
            <a:off x="381000" y="1333500"/>
            <a:ext cx="8286750" cy="6191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800" b="1" dirty="0">
                <a:solidFill>
                  <a:srgbClr val="17243B"/>
                </a:solidFill>
                <a:latin typeface="Arial"/>
              </a:rPr>
              <a:t>Turn transaction alerts into evidence-linked investigations, then learn from genuine analyst outcomes.</a:t>
            </a:r>
          </a:p>
        </p:txBody>
      </p:sp>
      <p:sp>
        <p:nvSpPr>
          <p:cNvPr id="1004" name="Genesis rect 1004"/>
          <p:cNvSpPr/>
          <p:nvPr/>
        </p:nvSpPr>
        <p:spPr>
          <a:xfrm>
            <a:off x="381000" y="2152650"/>
            <a:ext cx="2647950" cy="1971675"/>
          </a:xfrm>
          <a:prstGeom prst="rect">
            <a:avLst/>
          </a:prstGeom>
          <a:solidFill>
            <a:srgbClr val="F0F3FA"/>
          </a:solidFill>
          <a:ln w="9525">
            <a:noFill/>
          </a:ln>
        </p:spPr>
      </p:sp>
      <p:sp>
        <p:nvSpPr>
          <p:cNvPr id="1005" name="Genesis rect 1005"/>
          <p:cNvSpPr/>
          <p:nvPr/>
        </p:nvSpPr>
        <p:spPr>
          <a:xfrm>
            <a:off x="381000" y="2152650"/>
            <a:ext cx="38100" cy="1971675"/>
          </a:xfrm>
          <a:prstGeom prst="rect">
            <a:avLst/>
          </a:prstGeom>
          <a:solidFill>
            <a:srgbClr val="315DEA"/>
          </a:solidFill>
          <a:ln w="9525">
            <a:noFill/>
          </a:ln>
        </p:spPr>
      </p:sp>
      <p:sp>
        <p:nvSpPr>
          <p:cNvPr id="1006" name="Genesis text 1006"/>
          <p:cNvSpPr txBox="1"/>
          <p:nvPr/>
        </p:nvSpPr>
        <p:spPr>
          <a:xfrm>
            <a:off x="533400" y="2276475"/>
            <a:ext cx="2362200" cy="2571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425" b="1" dirty="0">
                <a:solidFill>
                  <a:srgbClr val="315DEA"/>
                </a:solidFill>
                <a:latin typeface="Arial"/>
              </a:rPr>
              <a:t>Investigate</a:t>
            </a:r>
          </a:p>
        </p:txBody>
      </p:sp>
      <p:sp>
        <p:nvSpPr>
          <p:cNvPr id="1007" name="Genesis text 1007"/>
          <p:cNvSpPr txBox="1"/>
          <p:nvPr/>
        </p:nvSpPr>
        <p:spPr>
          <a:xfrm>
            <a:off x="533400" y="2590800"/>
            <a:ext cx="2362200" cy="14668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350" b="0" dirty="0">
                <a:solidFill>
                  <a:srgbClr val="17243B"/>
                </a:solidFill>
                <a:latin typeface="Arial"/>
              </a:rPr>
              <a:t>Python enriches source facts and computes risk. Gemini explains, categorizes and writes a cited brief.</a:t>
            </a:r>
          </a:p>
        </p:txBody>
      </p:sp>
      <p:sp>
        <p:nvSpPr>
          <p:cNvPr id="1008" name="Genesis rect 1008"/>
          <p:cNvSpPr/>
          <p:nvPr/>
        </p:nvSpPr>
        <p:spPr>
          <a:xfrm>
            <a:off x="3219450" y="2152650"/>
            <a:ext cx="2647950" cy="1971675"/>
          </a:xfrm>
          <a:prstGeom prst="rect">
            <a:avLst/>
          </a:prstGeom>
          <a:solidFill>
            <a:srgbClr val="F0F3FA"/>
          </a:solidFill>
          <a:ln w="9525">
            <a:noFill/>
          </a:ln>
        </p:spPr>
      </p:sp>
      <p:sp>
        <p:nvSpPr>
          <p:cNvPr id="1009" name="Genesis rect 1009"/>
          <p:cNvSpPr/>
          <p:nvPr/>
        </p:nvSpPr>
        <p:spPr>
          <a:xfrm>
            <a:off x="3219450" y="2152650"/>
            <a:ext cx="38100" cy="1971675"/>
          </a:xfrm>
          <a:prstGeom prst="rect">
            <a:avLst/>
          </a:prstGeom>
          <a:solidFill>
            <a:srgbClr val="315DEA"/>
          </a:solidFill>
          <a:ln w="9525">
            <a:noFill/>
          </a:ln>
        </p:spPr>
      </p:sp>
      <p:sp>
        <p:nvSpPr>
          <p:cNvPr id="1010" name="Genesis text 1010"/>
          <p:cNvSpPr txBox="1"/>
          <p:nvPr/>
        </p:nvSpPr>
        <p:spPr>
          <a:xfrm>
            <a:off x="3371850" y="2276475"/>
            <a:ext cx="2362200" cy="2571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425" b="1" dirty="0">
                <a:solidFill>
                  <a:srgbClr val="315DEA"/>
                </a:solidFill>
                <a:latin typeface="Arial"/>
              </a:rPr>
              <a:t>Review</a:t>
            </a:r>
          </a:p>
        </p:txBody>
      </p:sp>
      <p:sp>
        <p:nvSpPr>
          <p:cNvPr id="1011" name="Genesis text 1011"/>
          <p:cNvSpPr txBox="1"/>
          <p:nvPr/>
        </p:nvSpPr>
        <p:spPr>
          <a:xfrm>
            <a:off x="3371850" y="2590800"/>
            <a:ext cx="2362200" cy="14668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350" b="0" dirty="0">
                <a:solidFill>
                  <a:srgbClr val="17243B"/>
                </a:solidFill>
                <a:latin typeface="Arial"/>
              </a:rPr>
              <a:t>The analyst inspects source history, model findings and uncertainty, then saves a frozen verdict.</a:t>
            </a:r>
          </a:p>
        </p:txBody>
      </p:sp>
      <p:sp>
        <p:nvSpPr>
          <p:cNvPr id="1012" name="Genesis rect 1012"/>
          <p:cNvSpPr/>
          <p:nvPr/>
        </p:nvSpPr>
        <p:spPr>
          <a:xfrm>
            <a:off x="6057900" y="2152650"/>
            <a:ext cx="2647950" cy="1971675"/>
          </a:xfrm>
          <a:prstGeom prst="rect">
            <a:avLst/>
          </a:prstGeom>
          <a:solidFill>
            <a:srgbClr val="F0F3FA"/>
          </a:solidFill>
          <a:ln w="9525">
            <a:noFill/>
          </a:ln>
        </p:spPr>
      </p:sp>
      <p:sp>
        <p:nvSpPr>
          <p:cNvPr id="1013" name="Genesis rect 1013"/>
          <p:cNvSpPr/>
          <p:nvPr/>
        </p:nvSpPr>
        <p:spPr>
          <a:xfrm>
            <a:off x="6057900" y="2152650"/>
            <a:ext cx="38100" cy="1971675"/>
          </a:xfrm>
          <a:prstGeom prst="rect">
            <a:avLst/>
          </a:prstGeom>
          <a:solidFill>
            <a:srgbClr val="087F72"/>
          </a:solidFill>
          <a:ln w="9525">
            <a:noFill/>
          </a:ln>
        </p:spPr>
      </p:sp>
      <p:sp>
        <p:nvSpPr>
          <p:cNvPr id="1014" name="Genesis text 1014"/>
          <p:cNvSpPr txBox="1"/>
          <p:nvPr/>
        </p:nvSpPr>
        <p:spPr>
          <a:xfrm>
            <a:off x="6210300" y="2276475"/>
            <a:ext cx="2362200" cy="2571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425" b="1" dirty="0">
                <a:solidFill>
                  <a:srgbClr val="087F72"/>
                </a:solidFill>
                <a:latin typeface="Arial"/>
              </a:rPr>
              <a:t>Learn carefully</a:t>
            </a:r>
          </a:p>
        </p:txBody>
      </p:sp>
      <p:sp>
        <p:nvSpPr>
          <p:cNvPr id="1015" name="Genesis text 1015"/>
          <p:cNvSpPr txBox="1"/>
          <p:nvPr/>
        </p:nvSpPr>
        <p:spPr>
          <a:xfrm>
            <a:off x="6210300" y="2590800"/>
            <a:ext cx="2362200" cy="14668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350" b="0" dirty="0">
                <a:solidFill>
                  <a:srgbClr val="17243B"/>
                </a:solidFill>
                <a:latin typeface="Arial"/>
              </a:rPr>
              <a:t>Evolution separates evidence sources and tests cutoff candidates before explicit application or rollback.</a:t>
            </a:r>
          </a:p>
        </p:txBody>
      </p:sp>
      <p:sp>
        <p:nvSpPr>
          <p:cNvPr id="1016" name="Genesis text 1016"/>
          <p:cNvSpPr txBox="1"/>
          <p:nvPr/>
        </p:nvSpPr>
        <p:spPr>
          <a:xfrm>
            <a:off x="400050" y="4371975"/>
            <a:ext cx="8239125" cy="2857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275" b="0" dirty="0">
                <a:solidFill>
                  <a:srgbClr val="52627B"/>
                </a:solidFill>
                <a:latin typeface="Arial"/>
              </a:rPr>
              <a:t>Current workspace: 3,000 synthetic cases / 200 identities / nine detector rules.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enesis text 1000"/>
          <p:cNvSpPr txBox="1"/>
          <p:nvPr/>
        </p:nvSpPr>
        <p:spPr>
          <a:xfrm>
            <a:off x="304800" y="742950"/>
            <a:ext cx="8524875" cy="4286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2025" b="1" dirty="0">
                <a:solidFill>
                  <a:srgbClr val="17243B"/>
                </a:solidFill>
                <a:latin typeface="Arial"/>
              </a:rPr>
              <a:t>Opportunities and proposed USP</a:t>
            </a:r>
          </a:p>
        </p:txBody>
      </p:sp>
      <p:sp>
        <p:nvSpPr>
          <p:cNvPr id="1001" name="Genesis text 1001"/>
          <p:cNvSpPr txBox="1"/>
          <p:nvPr/>
        </p:nvSpPr>
        <p:spPr>
          <a:xfrm>
            <a:off x="323850" y="4810125"/>
            <a:ext cx="8096250" cy="1809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825" b="0" dirty="0">
                <a:solidFill>
                  <a:srgbClr val="52627B"/>
                </a:solidFill>
                <a:latin typeface="Arial"/>
              </a:rPr>
              <a:t>AML Insight / Genesis  |  Repository evidence, 18 October 2026</a:t>
            </a:r>
          </a:p>
        </p:txBody>
      </p:sp>
      <p:sp>
        <p:nvSpPr>
          <p:cNvPr id="1002" name="Genesis text 1002"/>
          <p:cNvSpPr txBox="1"/>
          <p:nvPr/>
        </p:nvSpPr>
        <p:spPr>
          <a:xfrm>
            <a:off x="8429625" y="4810125"/>
            <a:ext cx="400050" cy="1809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r" marL="0" indent="0">
              <a:lnSpc>
                <a:spcPct val="116000"/>
              </a:lnSpc>
              <a:buNone/>
            </a:pPr>
            <a:r>
              <a:rPr lang="en-AU" sz="825" b="0" dirty="0">
                <a:solidFill>
                  <a:srgbClr val="52627B"/>
                </a:solidFill>
                <a:latin typeface="Arial"/>
              </a:rPr>
              <a:t>04</a:t>
            </a:r>
          </a:p>
        </p:txBody>
      </p:sp>
      <p:sp>
        <p:nvSpPr>
          <p:cNvPr id="1003" name="Genesis rect 1003"/>
          <p:cNvSpPr/>
          <p:nvPr/>
        </p:nvSpPr>
        <p:spPr>
          <a:xfrm>
            <a:off x="381000" y="1352550"/>
            <a:ext cx="2647950" cy="2886075"/>
          </a:xfrm>
          <a:prstGeom prst="rect">
            <a:avLst/>
          </a:prstGeom>
          <a:solidFill>
            <a:srgbClr val="F0F3FA"/>
          </a:solidFill>
          <a:ln w="9525">
            <a:noFill/>
          </a:ln>
        </p:spPr>
      </p:sp>
      <p:sp>
        <p:nvSpPr>
          <p:cNvPr id="1004" name="Genesis rect 1004"/>
          <p:cNvSpPr/>
          <p:nvPr/>
        </p:nvSpPr>
        <p:spPr>
          <a:xfrm>
            <a:off x="381000" y="1352550"/>
            <a:ext cx="38100" cy="2886075"/>
          </a:xfrm>
          <a:prstGeom prst="rect">
            <a:avLst/>
          </a:prstGeom>
          <a:solidFill>
            <a:srgbClr val="315DEA"/>
          </a:solidFill>
          <a:ln w="9525">
            <a:noFill/>
          </a:ln>
        </p:spPr>
      </p:sp>
      <p:sp>
        <p:nvSpPr>
          <p:cNvPr id="1005" name="Genesis text 1005"/>
          <p:cNvSpPr txBox="1"/>
          <p:nvPr/>
        </p:nvSpPr>
        <p:spPr>
          <a:xfrm>
            <a:off x="533400" y="1476375"/>
            <a:ext cx="2362200" cy="2571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425" b="1" dirty="0">
                <a:solidFill>
                  <a:srgbClr val="315DEA"/>
                </a:solidFill>
                <a:latin typeface="Arial"/>
              </a:rPr>
              <a:t>How it differs</a:t>
            </a:r>
          </a:p>
        </p:txBody>
      </p:sp>
      <p:sp>
        <p:nvSpPr>
          <p:cNvPr id="1006" name="Genesis text 1006"/>
          <p:cNvSpPr txBox="1"/>
          <p:nvPr/>
        </p:nvSpPr>
        <p:spPr>
          <a:xfrm>
            <a:off x="533400" y="1790700"/>
            <a:ext cx="2362200" cy="23812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275" b="0" dirty="0">
                <a:solidFill>
                  <a:srgbClr val="17243B"/>
                </a:solidFill>
                <a:latin typeface="Arial"/>
              </a:rPr>
              <a:t>Combines deterministic risk arithmetic with evidence-linked AI output, a sealed attempt ledger and a separate learning workflow.</a:t>
            </a:r>
          </a:p>
          <a:p>
            <a:pPr algn="l" marL="0" indent="0">
              <a:lnSpc>
                <a:spcPct val="116000"/>
              </a:lnSpc>
              <a:buNone/>
            </a:pPr>
            <a:r>
              <a:rPr lang="en-AU" sz="1275" b="0" dirty="0">
                <a:solidFill>
                  <a:srgbClr val="17243B"/>
                </a:solidFill>
                <a:latin typeface="Arial"/>
              </a:rPr>
              <a:t/>
            </a:r>
          </a:p>
          <a:p>
            <a:pPr algn="l" marL="0" indent="0">
              <a:lnSpc>
                <a:spcPct val="116000"/>
              </a:lnSpc>
              <a:buNone/>
            </a:pPr>
            <a:r>
              <a:rPr lang="en-AU" sz="1275" b="0" dirty="0">
                <a:solidFill>
                  <a:srgbClr val="17243B"/>
                </a:solidFill>
                <a:latin typeface="Arial"/>
              </a:rPr>
              <a:t>No external competitor comparison is established by the code.</a:t>
            </a:r>
          </a:p>
        </p:txBody>
      </p:sp>
      <p:sp>
        <p:nvSpPr>
          <p:cNvPr id="1007" name="Genesis rect 1007"/>
          <p:cNvSpPr/>
          <p:nvPr/>
        </p:nvSpPr>
        <p:spPr>
          <a:xfrm>
            <a:off x="3219450" y="1352550"/>
            <a:ext cx="2647950" cy="2886075"/>
          </a:xfrm>
          <a:prstGeom prst="rect">
            <a:avLst/>
          </a:prstGeom>
          <a:solidFill>
            <a:srgbClr val="F0F3FA"/>
          </a:solidFill>
          <a:ln w="9525">
            <a:noFill/>
          </a:ln>
        </p:spPr>
      </p:sp>
      <p:sp>
        <p:nvSpPr>
          <p:cNvPr id="1008" name="Genesis rect 1008"/>
          <p:cNvSpPr/>
          <p:nvPr/>
        </p:nvSpPr>
        <p:spPr>
          <a:xfrm>
            <a:off x="3219450" y="1352550"/>
            <a:ext cx="38100" cy="2886075"/>
          </a:xfrm>
          <a:prstGeom prst="rect">
            <a:avLst/>
          </a:prstGeom>
          <a:solidFill>
            <a:srgbClr val="315DEA"/>
          </a:solidFill>
          <a:ln w="9525">
            <a:noFill/>
          </a:ln>
        </p:spPr>
      </p:sp>
      <p:sp>
        <p:nvSpPr>
          <p:cNvPr id="1009" name="Genesis text 1009"/>
          <p:cNvSpPr txBox="1"/>
          <p:nvPr/>
        </p:nvSpPr>
        <p:spPr>
          <a:xfrm>
            <a:off x="3371850" y="1476375"/>
            <a:ext cx="2362200" cy="2571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425" b="1" dirty="0">
                <a:solidFill>
                  <a:srgbClr val="315DEA"/>
                </a:solidFill>
                <a:latin typeface="Arial"/>
              </a:rPr>
              <a:t>How it solves the problem</a:t>
            </a:r>
          </a:p>
        </p:txBody>
      </p:sp>
      <p:sp>
        <p:nvSpPr>
          <p:cNvPr id="1010" name="Genesis text 1010"/>
          <p:cNvSpPr txBox="1"/>
          <p:nvPr/>
        </p:nvSpPr>
        <p:spPr>
          <a:xfrm>
            <a:off x="3371850" y="1790700"/>
            <a:ext cx="2362200" cy="23812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275" b="0" dirty="0">
                <a:solidFill>
                  <a:srgbClr val="17243B"/>
                </a:solidFill>
                <a:latin typeface="Arial"/>
              </a:rPr>
              <a:t>Keeps source history, scores, counter-evidence and suggestions in one case view.</a:t>
            </a:r>
          </a:p>
          <a:p>
            <a:pPr algn="l" marL="0" indent="0">
              <a:lnSpc>
                <a:spcPct val="116000"/>
              </a:lnSpc>
              <a:buNone/>
            </a:pPr>
            <a:r>
              <a:rPr lang="en-AU" sz="1275" b="0" dirty="0">
                <a:solidFill>
                  <a:srgbClr val="17243B"/>
                </a:solidFill>
                <a:latin typeface="Arial"/>
              </a:rPr>
              <a:t/>
            </a:r>
          </a:p>
          <a:p>
            <a:pPr algn="l" marL="0" indent="0">
              <a:lnSpc>
                <a:spcPct val="116000"/>
              </a:lnSpc>
              <a:buNone/>
            </a:pPr>
            <a:r>
              <a:rPr lang="en-AU" sz="1275" b="0" dirty="0">
                <a:solidFill>
                  <a:srgbClr val="17243B"/>
                </a:solidFill>
                <a:latin typeface="Arial"/>
              </a:rPr>
              <a:t>Structured validation rejects unsupported citation IDs and preserves uncertainty for analyst attention.</a:t>
            </a:r>
          </a:p>
        </p:txBody>
      </p:sp>
      <p:sp>
        <p:nvSpPr>
          <p:cNvPr id="1011" name="Genesis rect 1011"/>
          <p:cNvSpPr/>
          <p:nvPr/>
        </p:nvSpPr>
        <p:spPr>
          <a:xfrm>
            <a:off x="6057900" y="1352550"/>
            <a:ext cx="2647950" cy="2886075"/>
          </a:xfrm>
          <a:prstGeom prst="rect">
            <a:avLst/>
          </a:prstGeom>
          <a:solidFill>
            <a:srgbClr val="F0F3FA"/>
          </a:solidFill>
          <a:ln w="9525">
            <a:noFill/>
          </a:ln>
        </p:spPr>
      </p:sp>
      <p:sp>
        <p:nvSpPr>
          <p:cNvPr id="1012" name="Genesis rect 1012"/>
          <p:cNvSpPr/>
          <p:nvPr/>
        </p:nvSpPr>
        <p:spPr>
          <a:xfrm>
            <a:off x="6057900" y="1352550"/>
            <a:ext cx="38100" cy="2886075"/>
          </a:xfrm>
          <a:prstGeom prst="rect">
            <a:avLst/>
          </a:prstGeom>
          <a:solidFill>
            <a:srgbClr val="087F72"/>
          </a:solidFill>
          <a:ln w="9525">
            <a:noFill/>
          </a:ln>
        </p:spPr>
      </p:sp>
      <p:sp>
        <p:nvSpPr>
          <p:cNvPr id="1013" name="Genesis text 1013"/>
          <p:cNvSpPr txBox="1"/>
          <p:nvPr/>
        </p:nvSpPr>
        <p:spPr>
          <a:xfrm>
            <a:off x="6210300" y="1476375"/>
            <a:ext cx="2362200" cy="2571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425" b="1" dirty="0">
                <a:solidFill>
                  <a:srgbClr val="087F72"/>
                </a:solidFill>
                <a:latin typeface="Arial"/>
              </a:rPr>
              <a:t>Proposed USP</a:t>
            </a:r>
          </a:p>
        </p:txBody>
      </p:sp>
      <p:sp>
        <p:nvSpPr>
          <p:cNvPr id="1014" name="Genesis text 1014"/>
          <p:cNvSpPr txBox="1"/>
          <p:nvPr/>
        </p:nvSpPr>
        <p:spPr>
          <a:xfrm>
            <a:off x="6210300" y="1790700"/>
            <a:ext cx="2362200" cy="23812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275" b="0" dirty="0">
                <a:solidFill>
                  <a:srgbClr val="17243B"/>
                </a:solidFill>
                <a:latin typeface="Arial"/>
              </a:rPr>
              <a:t>Traceable assistance with controlled adaptation: source labels, model opinions, drafts and human verdicts stay separate.</a:t>
            </a:r>
          </a:p>
          <a:p>
            <a:pPr algn="l" marL="0" indent="0">
              <a:lnSpc>
                <a:spcPct val="116000"/>
              </a:lnSpc>
              <a:buNone/>
            </a:pPr>
            <a:r>
              <a:rPr lang="en-AU" sz="1275" b="0" dirty="0">
                <a:solidFill>
                  <a:srgbClr val="17243B"/>
                </a:solidFill>
                <a:latin typeface="Arial"/>
              </a:rPr>
              <a:t/>
            </a:r>
          </a:p>
          <a:p>
            <a:pPr algn="l" marL="0" indent="0">
              <a:lnSpc>
                <a:spcPct val="116000"/>
              </a:lnSpc>
              <a:buNone/>
            </a:pPr>
            <a:r>
              <a:rPr lang="en-AU" sz="1275" b="0" dirty="0">
                <a:solidFill>
                  <a:srgbClr val="17243B"/>
                </a:solidFill>
                <a:latin typeface="Arial"/>
              </a:rPr>
              <a:t>Python validates candidates; a model recommendation cannot apply itself.</a:t>
            </a:r>
          </a:p>
        </p:txBody>
      </p:sp>
      <p:sp>
        <p:nvSpPr>
          <p:cNvPr id="1015" name="Genesis text 1015"/>
          <p:cNvSpPr txBox="1"/>
          <p:nvPr/>
        </p:nvSpPr>
        <p:spPr>
          <a:xfrm>
            <a:off x="400050" y="4419600"/>
            <a:ext cx="8239125" cy="2571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200" b="0" dirty="0">
                <a:solidFill>
                  <a:srgbClr val="52627B"/>
                </a:solidFill>
                <a:latin typeface="Arial"/>
              </a:rPr>
              <a:t>Value proposition is implemented in the workflow; real-world productivity gains are not yet measured.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enesis text 1000"/>
          <p:cNvSpPr txBox="1"/>
          <p:nvPr/>
        </p:nvSpPr>
        <p:spPr>
          <a:xfrm>
            <a:off x="304800" y="742950"/>
            <a:ext cx="8524875" cy="4286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2025" b="1" dirty="0">
                <a:solidFill>
                  <a:srgbClr val="17243B"/>
                </a:solidFill>
                <a:latin typeface="Arial"/>
              </a:rPr>
              <a:t>Features offered by the solution</a:t>
            </a:r>
          </a:p>
        </p:txBody>
      </p:sp>
      <p:sp>
        <p:nvSpPr>
          <p:cNvPr id="1001" name="Genesis text 1001"/>
          <p:cNvSpPr txBox="1"/>
          <p:nvPr/>
        </p:nvSpPr>
        <p:spPr>
          <a:xfrm>
            <a:off x="323850" y="4810125"/>
            <a:ext cx="8096250" cy="1809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825" b="0" dirty="0">
                <a:solidFill>
                  <a:srgbClr val="52627B"/>
                </a:solidFill>
                <a:latin typeface="Arial"/>
              </a:rPr>
              <a:t>AML Insight / Genesis  |  Repository evidence, 18 October 2026</a:t>
            </a:r>
          </a:p>
        </p:txBody>
      </p:sp>
      <p:sp>
        <p:nvSpPr>
          <p:cNvPr id="1002" name="Genesis text 1002"/>
          <p:cNvSpPr txBox="1"/>
          <p:nvPr/>
        </p:nvSpPr>
        <p:spPr>
          <a:xfrm>
            <a:off x="8429625" y="4810125"/>
            <a:ext cx="400050" cy="1809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r" marL="0" indent="0">
              <a:lnSpc>
                <a:spcPct val="116000"/>
              </a:lnSpc>
              <a:buNone/>
            </a:pPr>
            <a:r>
              <a:rPr lang="en-AU" sz="825" b="0" dirty="0">
                <a:solidFill>
                  <a:srgbClr val="52627B"/>
                </a:solidFill>
                <a:latin typeface="Arial"/>
              </a:rPr>
              <a:t>05</a:t>
            </a:r>
          </a:p>
        </p:txBody>
      </p:sp>
      <p:sp>
        <p:nvSpPr>
          <p:cNvPr id="1003" name="Genesis rect 1003"/>
          <p:cNvSpPr/>
          <p:nvPr/>
        </p:nvSpPr>
        <p:spPr>
          <a:xfrm>
            <a:off x="381000" y="1333500"/>
            <a:ext cx="4114800" cy="981075"/>
          </a:xfrm>
          <a:prstGeom prst="rect">
            <a:avLst/>
          </a:prstGeom>
          <a:solidFill>
            <a:srgbClr val="F0F3FA"/>
          </a:solidFill>
          <a:ln w="9525">
            <a:noFill/>
          </a:ln>
        </p:spPr>
      </p:sp>
      <p:sp>
        <p:nvSpPr>
          <p:cNvPr id="1004" name="Genesis rect 1004"/>
          <p:cNvSpPr/>
          <p:nvPr/>
        </p:nvSpPr>
        <p:spPr>
          <a:xfrm>
            <a:off x="381000" y="1333500"/>
            <a:ext cx="38100" cy="981075"/>
          </a:xfrm>
          <a:prstGeom prst="rect">
            <a:avLst/>
          </a:prstGeom>
          <a:solidFill>
            <a:srgbClr val="315DEA"/>
          </a:solidFill>
          <a:ln w="9525">
            <a:noFill/>
          </a:ln>
        </p:spPr>
      </p:sp>
      <p:sp>
        <p:nvSpPr>
          <p:cNvPr id="1005" name="Genesis text 1005"/>
          <p:cNvSpPr txBox="1"/>
          <p:nvPr/>
        </p:nvSpPr>
        <p:spPr>
          <a:xfrm>
            <a:off x="533400" y="1457325"/>
            <a:ext cx="3829050" cy="2571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425" b="1" dirty="0">
                <a:solidFill>
                  <a:srgbClr val="315DEA"/>
                </a:solidFill>
                <a:latin typeface="Arial"/>
              </a:rPr>
              <a:t>Nine alert rules</a:t>
            </a:r>
          </a:p>
        </p:txBody>
      </p:sp>
      <p:sp>
        <p:nvSpPr>
          <p:cNvPr id="1006" name="Genesis text 1006"/>
          <p:cNvSpPr txBox="1"/>
          <p:nvPr/>
        </p:nvSpPr>
        <p:spPr>
          <a:xfrm>
            <a:off x="533400" y="1771650"/>
            <a:ext cx="3829050" cy="4762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125" b="0" dirty="0">
                <a:solidFill>
                  <a:srgbClr val="17243B"/>
                </a:solidFill>
                <a:latin typeface="Arial"/>
              </a:rPr>
              <a:t>High value, crypto, PEP, post-death, dormant, multi-currency, cash, foreign wire and structuring.</a:t>
            </a:r>
          </a:p>
        </p:txBody>
      </p:sp>
      <p:sp>
        <p:nvSpPr>
          <p:cNvPr id="1007" name="Genesis rect 1007"/>
          <p:cNvSpPr/>
          <p:nvPr/>
        </p:nvSpPr>
        <p:spPr>
          <a:xfrm>
            <a:off x="4648200" y="1333500"/>
            <a:ext cx="4114800" cy="981075"/>
          </a:xfrm>
          <a:prstGeom prst="rect">
            <a:avLst/>
          </a:prstGeom>
          <a:solidFill>
            <a:srgbClr val="F0F3FA"/>
          </a:solidFill>
          <a:ln w="9525">
            <a:noFill/>
          </a:ln>
        </p:spPr>
      </p:sp>
      <p:sp>
        <p:nvSpPr>
          <p:cNvPr id="1008" name="Genesis rect 1008"/>
          <p:cNvSpPr/>
          <p:nvPr/>
        </p:nvSpPr>
        <p:spPr>
          <a:xfrm>
            <a:off x="4648200" y="1333500"/>
            <a:ext cx="38100" cy="981075"/>
          </a:xfrm>
          <a:prstGeom prst="rect">
            <a:avLst/>
          </a:prstGeom>
          <a:solidFill>
            <a:srgbClr val="315DEA"/>
          </a:solidFill>
          <a:ln w="9525">
            <a:noFill/>
          </a:ln>
        </p:spPr>
      </p:sp>
      <p:sp>
        <p:nvSpPr>
          <p:cNvPr id="1009" name="Genesis text 1009"/>
          <p:cNvSpPr txBox="1"/>
          <p:nvPr/>
        </p:nvSpPr>
        <p:spPr>
          <a:xfrm>
            <a:off x="4800600" y="1457325"/>
            <a:ext cx="3829050" cy="2571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425" b="1" dirty="0">
                <a:solidFill>
                  <a:srgbClr val="315DEA"/>
                </a:solidFill>
                <a:latin typeface="Arial"/>
              </a:rPr>
              <a:t>Explainable risk</a:t>
            </a:r>
          </a:p>
        </p:txBody>
      </p:sp>
      <p:sp>
        <p:nvSpPr>
          <p:cNvPr id="1010" name="Genesis text 1010"/>
          <p:cNvSpPr txBox="1"/>
          <p:nvPr/>
        </p:nvSpPr>
        <p:spPr>
          <a:xfrm>
            <a:off x="4800600" y="1771650"/>
            <a:ext cx="3829050" cy="4762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125" b="0" dirty="0">
                <a:solidFill>
                  <a:srgbClr val="17243B"/>
                </a:solidFill>
                <a:latin typeface="Arial"/>
              </a:rPr>
              <a:t>Five Python-owned dimensions: transaction 30%, customer 25%, account 15%, behavior 20%, network 10%.</a:t>
            </a:r>
          </a:p>
        </p:txBody>
      </p:sp>
      <p:sp>
        <p:nvSpPr>
          <p:cNvPr id="1011" name="Genesis rect 1011"/>
          <p:cNvSpPr/>
          <p:nvPr/>
        </p:nvSpPr>
        <p:spPr>
          <a:xfrm>
            <a:off x="381000" y="2428875"/>
            <a:ext cx="4114800" cy="981075"/>
          </a:xfrm>
          <a:prstGeom prst="rect">
            <a:avLst/>
          </a:prstGeom>
          <a:solidFill>
            <a:srgbClr val="F0F3FA"/>
          </a:solidFill>
          <a:ln w="9525">
            <a:noFill/>
          </a:ln>
        </p:spPr>
      </p:sp>
      <p:sp>
        <p:nvSpPr>
          <p:cNvPr id="1012" name="Genesis rect 1012"/>
          <p:cNvSpPr/>
          <p:nvPr/>
        </p:nvSpPr>
        <p:spPr>
          <a:xfrm>
            <a:off x="381000" y="2428875"/>
            <a:ext cx="38100" cy="981075"/>
          </a:xfrm>
          <a:prstGeom prst="rect">
            <a:avLst/>
          </a:prstGeom>
          <a:solidFill>
            <a:srgbClr val="315DEA"/>
          </a:solidFill>
          <a:ln w="9525">
            <a:noFill/>
          </a:ln>
        </p:spPr>
      </p:sp>
      <p:sp>
        <p:nvSpPr>
          <p:cNvPr id="1013" name="Genesis text 1013"/>
          <p:cNvSpPr txBox="1"/>
          <p:nvPr/>
        </p:nvSpPr>
        <p:spPr>
          <a:xfrm>
            <a:off x="533400" y="2552700"/>
            <a:ext cx="3829050" cy="2571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425" b="1" dirty="0">
                <a:solidFill>
                  <a:srgbClr val="315DEA"/>
                </a:solidFill>
                <a:latin typeface="Arial"/>
              </a:rPr>
              <a:t>Case investigation</a:t>
            </a:r>
          </a:p>
        </p:txBody>
      </p:sp>
      <p:sp>
        <p:nvSpPr>
          <p:cNvPr id="1014" name="Genesis text 1014"/>
          <p:cNvSpPr txBox="1"/>
          <p:nvPr/>
        </p:nvSpPr>
        <p:spPr>
          <a:xfrm>
            <a:off x="533400" y="2867025"/>
            <a:ext cx="3829050" cy="4762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125" b="0" dirty="0">
                <a:solidFill>
                  <a:srgbClr val="17243B"/>
                </a:solidFill>
                <a:latin typeface="Arial"/>
              </a:rPr>
              <a:t>Identity/account links, source trail, risk explanation, typology, brief and agent traces.</a:t>
            </a:r>
          </a:p>
        </p:txBody>
      </p:sp>
      <p:sp>
        <p:nvSpPr>
          <p:cNvPr id="1015" name="Genesis rect 1015"/>
          <p:cNvSpPr/>
          <p:nvPr/>
        </p:nvSpPr>
        <p:spPr>
          <a:xfrm>
            <a:off x="4648200" y="2428875"/>
            <a:ext cx="4114800" cy="981075"/>
          </a:xfrm>
          <a:prstGeom prst="rect">
            <a:avLst/>
          </a:prstGeom>
          <a:solidFill>
            <a:srgbClr val="F0F3FA"/>
          </a:solidFill>
          <a:ln w="9525">
            <a:noFill/>
          </a:ln>
        </p:spPr>
      </p:sp>
      <p:sp>
        <p:nvSpPr>
          <p:cNvPr id="1016" name="Genesis rect 1016"/>
          <p:cNvSpPr/>
          <p:nvPr/>
        </p:nvSpPr>
        <p:spPr>
          <a:xfrm>
            <a:off x="4648200" y="2428875"/>
            <a:ext cx="38100" cy="981075"/>
          </a:xfrm>
          <a:prstGeom prst="rect">
            <a:avLst/>
          </a:prstGeom>
          <a:solidFill>
            <a:srgbClr val="315DEA"/>
          </a:solidFill>
          <a:ln w="9525">
            <a:noFill/>
          </a:ln>
        </p:spPr>
      </p:sp>
      <p:sp>
        <p:nvSpPr>
          <p:cNvPr id="1017" name="Genesis text 1017"/>
          <p:cNvSpPr txBox="1"/>
          <p:nvPr/>
        </p:nvSpPr>
        <p:spPr>
          <a:xfrm>
            <a:off x="4800600" y="2552700"/>
            <a:ext cx="3829050" cy="2571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425" b="1" dirty="0">
                <a:solidFill>
                  <a:srgbClr val="315DEA"/>
                </a:solidFill>
                <a:latin typeface="Arial"/>
              </a:rPr>
              <a:t>Durable execution</a:t>
            </a:r>
          </a:p>
        </p:txBody>
      </p:sp>
      <p:sp>
        <p:nvSpPr>
          <p:cNvPr id="1018" name="Genesis text 1018"/>
          <p:cNvSpPr txBox="1"/>
          <p:nvPr/>
        </p:nvSpPr>
        <p:spPr>
          <a:xfrm>
            <a:off x="4800600" y="2867025"/>
            <a:ext cx="3829050" cy="4762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125" b="0" dirty="0">
                <a:solidFill>
                  <a:srgbClr val="17243B"/>
                </a:solidFill>
                <a:latin typeface="Arial"/>
              </a:rPr>
              <a:t>Parent/child runs, leases, checkpoints, deduplication and bounded retry handling.</a:t>
            </a:r>
          </a:p>
        </p:txBody>
      </p:sp>
      <p:sp>
        <p:nvSpPr>
          <p:cNvPr id="1019" name="Genesis rect 1019"/>
          <p:cNvSpPr/>
          <p:nvPr/>
        </p:nvSpPr>
        <p:spPr>
          <a:xfrm>
            <a:off x="381000" y="3524250"/>
            <a:ext cx="4114800" cy="981075"/>
          </a:xfrm>
          <a:prstGeom prst="rect">
            <a:avLst/>
          </a:prstGeom>
          <a:solidFill>
            <a:srgbClr val="F0F3FA"/>
          </a:solidFill>
          <a:ln w="9525">
            <a:noFill/>
          </a:ln>
        </p:spPr>
      </p:sp>
      <p:sp>
        <p:nvSpPr>
          <p:cNvPr id="1020" name="Genesis rect 1020"/>
          <p:cNvSpPr/>
          <p:nvPr/>
        </p:nvSpPr>
        <p:spPr>
          <a:xfrm>
            <a:off x="381000" y="3524250"/>
            <a:ext cx="38100" cy="981075"/>
          </a:xfrm>
          <a:prstGeom prst="rect">
            <a:avLst/>
          </a:prstGeom>
          <a:solidFill>
            <a:srgbClr val="315DEA"/>
          </a:solidFill>
          <a:ln w="9525">
            <a:noFill/>
          </a:ln>
        </p:spPr>
      </p:sp>
      <p:sp>
        <p:nvSpPr>
          <p:cNvPr id="1021" name="Genesis text 1021"/>
          <p:cNvSpPr txBox="1"/>
          <p:nvPr/>
        </p:nvSpPr>
        <p:spPr>
          <a:xfrm>
            <a:off x="533400" y="3648075"/>
            <a:ext cx="3829050" cy="2571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425" b="1" dirty="0">
                <a:solidFill>
                  <a:srgbClr val="315DEA"/>
                </a:solidFill>
                <a:latin typeface="Arial"/>
              </a:rPr>
              <a:t>Evolution lab</a:t>
            </a:r>
          </a:p>
        </p:txBody>
      </p:sp>
      <p:sp>
        <p:nvSpPr>
          <p:cNvPr id="1022" name="Genesis text 1022"/>
          <p:cNvSpPr txBox="1"/>
          <p:nvPr/>
        </p:nvSpPr>
        <p:spPr>
          <a:xfrm>
            <a:off x="533400" y="3962400"/>
            <a:ext cx="3829050" cy="4762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125" b="0" dirty="0">
                <a:solidFill>
                  <a:srgbClr val="17243B"/>
                </a:solidFill>
                <a:latin typeface="Arial"/>
              </a:rPr>
              <a:t>Nine-rule matrix; separate reference, simulated and human outcomes; gated cutoff learning.</a:t>
            </a:r>
          </a:p>
        </p:txBody>
      </p:sp>
      <p:sp>
        <p:nvSpPr>
          <p:cNvPr id="1023" name="Genesis rect 1023"/>
          <p:cNvSpPr/>
          <p:nvPr/>
        </p:nvSpPr>
        <p:spPr>
          <a:xfrm>
            <a:off x="4648200" y="3524250"/>
            <a:ext cx="4114800" cy="981075"/>
          </a:xfrm>
          <a:prstGeom prst="rect">
            <a:avLst/>
          </a:prstGeom>
          <a:solidFill>
            <a:srgbClr val="F0F3FA"/>
          </a:solidFill>
          <a:ln w="9525">
            <a:noFill/>
          </a:ln>
        </p:spPr>
      </p:sp>
      <p:sp>
        <p:nvSpPr>
          <p:cNvPr id="1024" name="Genesis rect 1024"/>
          <p:cNvSpPr/>
          <p:nvPr/>
        </p:nvSpPr>
        <p:spPr>
          <a:xfrm>
            <a:off x="4648200" y="3524250"/>
            <a:ext cx="38100" cy="981075"/>
          </a:xfrm>
          <a:prstGeom prst="rect">
            <a:avLst/>
          </a:prstGeom>
          <a:solidFill>
            <a:srgbClr val="315DEA"/>
          </a:solidFill>
          <a:ln w="9525">
            <a:noFill/>
          </a:ln>
        </p:spPr>
      </p:sp>
      <p:sp>
        <p:nvSpPr>
          <p:cNvPr id="1025" name="Genesis text 1025"/>
          <p:cNvSpPr txBox="1"/>
          <p:nvPr/>
        </p:nvSpPr>
        <p:spPr>
          <a:xfrm>
            <a:off x="4800600" y="3648075"/>
            <a:ext cx="3829050" cy="2571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425" b="1" dirty="0">
                <a:solidFill>
                  <a:srgbClr val="315DEA"/>
                </a:solidFill>
                <a:latin typeface="Arial"/>
              </a:rPr>
              <a:t>Usage and access</a:t>
            </a:r>
          </a:p>
        </p:txBody>
      </p:sp>
      <p:sp>
        <p:nvSpPr>
          <p:cNvPr id="1026" name="Genesis text 1026"/>
          <p:cNvSpPr txBox="1"/>
          <p:nvPr/>
        </p:nvSpPr>
        <p:spPr>
          <a:xfrm>
            <a:off x="4800600" y="3962400"/>
            <a:ext cx="3829050" cy="4762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125" b="0" dirty="0">
                <a:solidFill>
                  <a:srgbClr val="17243B"/>
                </a:solidFill>
                <a:latin typeface="Arial"/>
              </a:rPr>
              <a:t>Per-attempt tokens/cost status, daily controls, operator/admin allowlists and private outputs.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enesis text 1000"/>
          <p:cNvSpPr txBox="1"/>
          <p:nvPr/>
        </p:nvSpPr>
        <p:spPr>
          <a:xfrm>
            <a:off x="304800" y="742950"/>
            <a:ext cx="8524875" cy="4286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2025" b="1" dirty="0">
                <a:solidFill>
                  <a:srgbClr val="17243B"/>
                </a:solidFill>
                <a:latin typeface="Arial"/>
              </a:rPr>
              <a:t>Process flow / use case</a:t>
            </a:r>
          </a:p>
        </p:txBody>
      </p:sp>
      <p:sp>
        <p:nvSpPr>
          <p:cNvPr id="1001" name="Genesis text 1001"/>
          <p:cNvSpPr txBox="1"/>
          <p:nvPr/>
        </p:nvSpPr>
        <p:spPr>
          <a:xfrm>
            <a:off x="323850" y="4810125"/>
            <a:ext cx="8096250" cy="1809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825" b="0" dirty="0">
                <a:solidFill>
                  <a:srgbClr val="52627B"/>
                </a:solidFill>
                <a:latin typeface="Arial"/>
              </a:rPr>
              <a:t>AML Insight / Genesis  |  Repository evidence, 18 October 2026</a:t>
            </a:r>
          </a:p>
        </p:txBody>
      </p:sp>
      <p:sp>
        <p:nvSpPr>
          <p:cNvPr id="1002" name="Genesis text 1002"/>
          <p:cNvSpPr txBox="1"/>
          <p:nvPr/>
        </p:nvSpPr>
        <p:spPr>
          <a:xfrm>
            <a:off x="8429625" y="4810125"/>
            <a:ext cx="400050" cy="1809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r" marL="0" indent="0">
              <a:lnSpc>
                <a:spcPct val="116000"/>
              </a:lnSpc>
              <a:buNone/>
            </a:pPr>
            <a:r>
              <a:rPr lang="en-AU" sz="825" b="0" dirty="0">
                <a:solidFill>
                  <a:srgbClr val="52627B"/>
                </a:solidFill>
                <a:latin typeface="Arial"/>
              </a:rPr>
              <a:t>06</a:t>
            </a:r>
          </a:p>
        </p:txBody>
      </p:sp>
      <p:sp>
        <p:nvSpPr>
          <p:cNvPr id="1003" name="Genesis text 1003"/>
          <p:cNvSpPr txBox="1"/>
          <p:nvPr/>
        </p:nvSpPr>
        <p:spPr>
          <a:xfrm>
            <a:off x="400050" y="1257300"/>
            <a:ext cx="8286750" cy="2381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275" b="0" dirty="0">
                <a:solidFill>
                  <a:srgbClr val="52627B"/>
                </a:solidFill>
                <a:latin typeface="Arial"/>
              </a:rPr>
              <a:t>Investigation: sequential stages, with source facts and risk owned by Python</a:t>
            </a:r>
          </a:p>
        </p:txBody>
      </p:sp>
      <p:sp>
        <p:nvSpPr>
          <p:cNvPr id="1004" name="Genesis rect 1004"/>
          <p:cNvSpPr/>
          <p:nvPr/>
        </p:nvSpPr>
        <p:spPr>
          <a:xfrm>
            <a:off x="381000" y="1685925"/>
            <a:ext cx="1257300" cy="857250"/>
          </a:xfrm>
          <a:prstGeom prst="rect">
            <a:avLst/>
          </a:prstGeom>
          <a:solidFill>
            <a:srgbClr val="F0F3FA"/>
          </a:solidFill>
          <a:ln w="9525">
            <a:noFill/>
          </a:ln>
        </p:spPr>
      </p:sp>
      <p:sp>
        <p:nvSpPr>
          <p:cNvPr id="1005" name="Genesis text 1005"/>
          <p:cNvSpPr txBox="1"/>
          <p:nvPr/>
        </p:nvSpPr>
        <p:spPr>
          <a:xfrm>
            <a:off x="457200" y="1800225"/>
            <a:ext cx="1104900" cy="2381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 marL="0" indent="0">
              <a:lnSpc>
                <a:spcPct val="116000"/>
              </a:lnSpc>
              <a:buNone/>
            </a:pPr>
            <a:r>
              <a:rPr lang="en-AU" sz="1350" b="1" dirty="0">
                <a:solidFill>
                  <a:srgbClr val="315DEA"/>
                </a:solidFill>
                <a:latin typeface="Arial"/>
              </a:rPr>
              <a:t>Source rules</a:t>
            </a:r>
          </a:p>
        </p:txBody>
      </p:sp>
      <p:sp>
        <p:nvSpPr>
          <p:cNvPr id="1006" name="Genesis text 1006"/>
          <p:cNvSpPr txBox="1"/>
          <p:nvPr/>
        </p:nvSpPr>
        <p:spPr>
          <a:xfrm>
            <a:off x="447675" y="2114550"/>
            <a:ext cx="1123950" cy="3429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 marL="0" indent="0">
              <a:lnSpc>
                <a:spcPct val="116000"/>
              </a:lnSpc>
              <a:buNone/>
            </a:pPr>
            <a:r>
              <a:rPr lang="en-AU" sz="1050" b="0" dirty="0">
                <a:solidFill>
                  <a:srgbClr val="17243B"/>
                </a:solidFill>
                <a:latin typeface="Arial"/>
              </a:rPr>
              <a:t>Transaction / alert</a:t>
            </a:r>
          </a:p>
        </p:txBody>
      </p:sp>
      <p:sp>
        <p:nvSpPr>
          <p:cNvPr id="1007" name="Genesis arrow 1007"/>
          <p:cNvSpPr/>
          <p:nvPr/>
        </p:nvSpPr>
        <p:spPr>
          <a:xfrm>
            <a:off x="1657350" y="2009775"/>
            <a:ext cx="123825" cy="133350"/>
          </a:xfrm>
          <a:prstGeom prst="rightArrow">
            <a:avLst/>
          </a:prstGeom>
          <a:solidFill>
            <a:srgbClr val="315DEA"/>
          </a:solidFill>
          <a:ln w="9525">
            <a:noFill/>
          </a:ln>
        </p:spPr>
      </p:sp>
      <p:sp>
        <p:nvSpPr>
          <p:cNvPr id="1008" name="Genesis rect 1008"/>
          <p:cNvSpPr/>
          <p:nvPr/>
        </p:nvSpPr>
        <p:spPr>
          <a:xfrm>
            <a:off x="1800225" y="1685925"/>
            <a:ext cx="1257300" cy="857250"/>
          </a:xfrm>
          <a:prstGeom prst="rect">
            <a:avLst/>
          </a:prstGeom>
          <a:solidFill>
            <a:srgbClr val="F0F3FA"/>
          </a:solidFill>
          <a:ln w="9525">
            <a:noFill/>
          </a:ln>
        </p:spPr>
      </p:sp>
      <p:sp>
        <p:nvSpPr>
          <p:cNvPr id="1009" name="Genesis text 1009"/>
          <p:cNvSpPr txBox="1"/>
          <p:nvPr/>
        </p:nvSpPr>
        <p:spPr>
          <a:xfrm>
            <a:off x="1876425" y="1800225"/>
            <a:ext cx="1104900" cy="2381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 marL="0" indent="0">
              <a:lnSpc>
                <a:spcPct val="116000"/>
              </a:lnSpc>
              <a:buNone/>
            </a:pPr>
            <a:r>
              <a:rPr lang="en-AU" sz="1350" b="1" dirty="0">
                <a:solidFill>
                  <a:srgbClr val="315DEA"/>
                </a:solidFill>
                <a:latin typeface="Arial"/>
              </a:rPr>
              <a:t>A1</a:t>
            </a:r>
          </a:p>
        </p:txBody>
      </p:sp>
      <p:sp>
        <p:nvSpPr>
          <p:cNvPr id="1010" name="Genesis text 1010"/>
          <p:cNvSpPr txBox="1"/>
          <p:nvPr/>
        </p:nvSpPr>
        <p:spPr>
          <a:xfrm>
            <a:off x="1866900" y="2114550"/>
            <a:ext cx="1123950" cy="3429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 marL="0" indent="0">
              <a:lnSpc>
                <a:spcPct val="116000"/>
              </a:lnSpc>
              <a:buNone/>
            </a:pPr>
            <a:r>
              <a:rPr lang="en-AU" sz="1050" b="0" dirty="0">
                <a:solidFill>
                  <a:srgbClr val="17243B"/>
                </a:solidFill>
                <a:latin typeface="Arial"/>
              </a:rPr>
              <a:t>Evidence enrichment</a:t>
            </a:r>
          </a:p>
        </p:txBody>
      </p:sp>
      <p:sp>
        <p:nvSpPr>
          <p:cNvPr id="1011" name="Genesis arrow 1011"/>
          <p:cNvSpPr/>
          <p:nvPr/>
        </p:nvSpPr>
        <p:spPr>
          <a:xfrm>
            <a:off x="3076575" y="2009775"/>
            <a:ext cx="123825" cy="133350"/>
          </a:xfrm>
          <a:prstGeom prst="rightArrow">
            <a:avLst/>
          </a:prstGeom>
          <a:solidFill>
            <a:srgbClr val="315DEA"/>
          </a:solidFill>
          <a:ln w="9525">
            <a:noFill/>
          </a:ln>
        </p:spPr>
      </p:sp>
      <p:sp>
        <p:nvSpPr>
          <p:cNvPr id="1012" name="Genesis rect 1012"/>
          <p:cNvSpPr/>
          <p:nvPr/>
        </p:nvSpPr>
        <p:spPr>
          <a:xfrm>
            <a:off x="3219450" y="1685925"/>
            <a:ext cx="1257300" cy="857250"/>
          </a:xfrm>
          <a:prstGeom prst="rect">
            <a:avLst/>
          </a:prstGeom>
          <a:solidFill>
            <a:srgbClr val="F0F3FA"/>
          </a:solidFill>
          <a:ln w="9525">
            <a:noFill/>
          </a:ln>
        </p:spPr>
      </p:sp>
      <p:sp>
        <p:nvSpPr>
          <p:cNvPr id="1013" name="Genesis text 1013"/>
          <p:cNvSpPr txBox="1"/>
          <p:nvPr/>
        </p:nvSpPr>
        <p:spPr>
          <a:xfrm>
            <a:off x="3295650" y="1800225"/>
            <a:ext cx="1104900" cy="2381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 marL="0" indent="0">
              <a:lnSpc>
                <a:spcPct val="116000"/>
              </a:lnSpc>
              <a:buNone/>
            </a:pPr>
            <a:r>
              <a:rPr lang="en-AU" sz="1350" b="1" dirty="0">
                <a:solidFill>
                  <a:srgbClr val="315DEA"/>
                </a:solidFill>
                <a:latin typeface="Arial"/>
              </a:rPr>
              <a:t>A2</a:t>
            </a:r>
          </a:p>
        </p:txBody>
      </p:sp>
      <p:sp>
        <p:nvSpPr>
          <p:cNvPr id="1014" name="Genesis text 1014"/>
          <p:cNvSpPr txBox="1"/>
          <p:nvPr/>
        </p:nvSpPr>
        <p:spPr>
          <a:xfrm>
            <a:off x="3286125" y="2114550"/>
            <a:ext cx="1123950" cy="3429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 marL="0" indent="0">
              <a:lnSpc>
                <a:spcPct val="116000"/>
              </a:lnSpc>
              <a:buNone/>
            </a:pPr>
            <a:r>
              <a:rPr lang="en-AU" sz="1050" b="0" dirty="0">
                <a:solidFill>
                  <a:srgbClr val="17243B"/>
                </a:solidFill>
                <a:latin typeface="Arial"/>
              </a:rPr>
              <a:t>Risk explanation</a:t>
            </a:r>
          </a:p>
        </p:txBody>
      </p:sp>
      <p:sp>
        <p:nvSpPr>
          <p:cNvPr id="1015" name="Genesis arrow 1015"/>
          <p:cNvSpPr/>
          <p:nvPr/>
        </p:nvSpPr>
        <p:spPr>
          <a:xfrm>
            <a:off x="4495800" y="2009775"/>
            <a:ext cx="123825" cy="133350"/>
          </a:xfrm>
          <a:prstGeom prst="rightArrow">
            <a:avLst/>
          </a:prstGeom>
          <a:solidFill>
            <a:srgbClr val="315DEA"/>
          </a:solidFill>
          <a:ln w="9525">
            <a:noFill/>
          </a:ln>
        </p:spPr>
      </p:sp>
      <p:sp>
        <p:nvSpPr>
          <p:cNvPr id="1016" name="Genesis rect 1016"/>
          <p:cNvSpPr/>
          <p:nvPr/>
        </p:nvSpPr>
        <p:spPr>
          <a:xfrm>
            <a:off x="4638675" y="1685925"/>
            <a:ext cx="1257300" cy="857250"/>
          </a:xfrm>
          <a:prstGeom prst="rect">
            <a:avLst/>
          </a:prstGeom>
          <a:solidFill>
            <a:srgbClr val="F0F3FA"/>
          </a:solidFill>
          <a:ln w="9525">
            <a:noFill/>
          </a:ln>
        </p:spPr>
      </p:sp>
      <p:sp>
        <p:nvSpPr>
          <p:cNvPr id="1017" name="Genesis text 1017"/>
          <p:cNvSpPr txBox="1"/>
          <p:nvPr/>
        </p:nvSpPr>
        <p:spPr>
          <a:xfrm>
            <a:off x="4714875" y="1800225"/>
            <a:ext cx="1104900" cy="2381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 marL="0" indent="0">
              <a:lnSpc>
                <a:spcPct val="116000"/>
              </a:lnSpc>
              <a:buNone/>
            </a:pPr>
            <a:r>
              <a:rPr lang="en-AU" sz="1350" b="1" dirty="0">
                <a:solidFill>
                  <a:srgbClr val="315DEA"/>
                </a:solidFill>
                <a:latin typeface="Arial"/>
              </a:rPr>
              <a:t>A3</a:t>
            </a:r>
          </a:p>
        </p:txBody>
      </p:sp>
      <p:sp>
        <p:nvSpPr>
          <p:cNvPr id="1018" name="Genesis text 1018"/>
          <p:cNvSpPr txBox="1"/>
          <p:nvPr/>
        </p:nvSpPr>
        <p:spPr>
          <a:xfrm>
            <a:off x="4705350" y="2114550"/>
            <a:ext cx="1123950" cy="3429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 marL="0" indent="0">
              <a:lnSpc>
                <a:spcPct val="116000"/>
              </a:lnSpc>
              <a:buNone/>
            </a:pPr>
            <a:r>
              <a:rPr lang="en-AU" sz="1050" b="0" dirty="0">
                <a:solidFill>
                  <a:srgbClr val="17243B"/>
                </a:solidFill>
                <a:latin typeface="Arial"/>
              </a:rPr>
              <a:t>Typology / action</a:t>
            </a:r>
          </a:p>
        </p:txBody>
      </p:sp>
      <p:sp>
        <p:nvSpPr>
          <p:cNvPr id="1019" name="Genesis arrow 1019"/>
          <p:cNvSpPr/>
          <p:nvPr/>
        </p:nvSpPr>
        <p:spPr>
          <a:xfrm>
            <a:off x="5915025" y="2009775"/>
            <a:ext cx="123825" cy="133350"/>
          </a:xfrm>
          <a:prstGeom prst="rightArrow">
            <a:avLst/>
          </a:prstGeom>
          <a:solidFill>
            <a:srgbClr val="315DEA"/>
          </a:solidFill>
          <a:ln w="9525">
            <a:noFill/>
          </a:ln>
        </p:spPr>
      </p:sp>
      <p:sp>
        <p:nvSpPr>
          <p:cNvPr id="1020" name="Genesis rect 1020"/>
          <p:cNvSpPr/>
          <p:nvPr/>
        </p:nvSpPr>
        <p:spPr>
          <a:xfrm>
            <a:off x="6057900" y="1685925"/>
            <a:ext cx="1257300" cy="857250"/>
          </a:xfrm>
          <a:prstGeom prst="rect">
            <a:avLst/>
          </a:prstGeom>
          <a:solidFill>
            <a:srgbClr val="F0F3FA"/>
          </a:solidFill>
          <a:ln w="9525">
            <a:noFill/>
          </a:ln>
        </p:spPr>
      </p:sp>
      <p:sp>
        <p:nvSpPr>
          <p:cNvPr id="1021" name="Genesis text 1021"/>
          <p:cNvSpPr txBox="1"/>
          <p:nvPr/>
        </p:nvSpPr>
        <p:spPr>
          <a:xfrm>
            <a:off x="6134100" y="1800225"/>
            <a:ext cx="1104900" cy="2381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 marL="0" indent="0">
              <a:lnSpc>
                <a:spcPct val="116000"/>
              </a:lnSpc>
              <a:buNone/>
            </a:pPr>
            <a:r>
              <a:rPr lang="en-AU" sz="1350" b="1" dirty="0">
                <a:solidFill>
                  <a:srgbClr val="315DEA"/>
                </a:solidFill>
                <a:latin typeface="Arial"/>
              </a:rPr>
              <a:t>A4</a:t>
            </a:r>
          </a:p>
        </p:txBody>
      </p:sp>
      <p:sp>
        <p:nvSpPr>
          <p:cNvPr id="1022" name="Genesis text 1022"/>
          <p:cNvSpPr txBox="1"/>
          <p:nvPr/>
        </p:nvSpPr>
        <p:spPr>
          <a:xfrm>
            <a:off x="6124575" y="2114550"/>
            <a:ext cx="1123950" cy="3429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 marL="0" indent="0">
              <a:lnSpc>
                <a:spcPct val="116000"/>
              </a:lnSpc>
              <a:buNone/>
            </a:pPr>
            <a:r>
              <a:rPr lang="en-AU" sz="1050" b="0" dirty="0">
                <a:solidFill>
                  <a:srgbClr val="17243B"/>
                </a:solidFill>
                <a:latin typeface="Arial"/>
              </a:rPr>
              <a:t>Cited case brief</a:t>
            </a:r>
          </a:p>
        </p:txBody>
      </p:sp>
      <p:sp>
        <p:nvSpPr>
          <p:cNvPr id="1023" name="Genesis arrow 1023"/>
          <p:cNvSpPr/>
          <p:nvPr/>
        </p:nvSpPr>
        <p:spPr>
          <a:xfrm>
            <a:off x="7334250" y="2009775"/>
            <a:ext cx="123825" cy="133350"/>
          </a:xfrm>
          <a:prstGeom prst="rightArrow">
            <a:avLst/>
          </a:prstGeom>
          <a:solidFill>
            <a:srgbClr val="315DEA"/>
          </a:solidFill>
          <a:ln w="9525">
            <a:noFill/>
          </a:ln>
        </p:spPr>
      </p:sp>
      <p:sp>
        <p:nvSpPr>
          <p:cNvPr id="1024" name="Genesis rect 1024"/>
          <p:cNvSpPr/>
          <p:nvPr/>
        </p:nvSpPr>
        <p:spPr>
          <a:xfrm>
            <a:off x="7477125" y="1685925"/>
            <a:ext cx="1257300" cy="857250"/>
          </a:xfrm>
          <a:prstGeom prst="rect">
            <a:avLst/>
          </a:prstGeom>
          <a:solidFill>
            <a:srgbClr val="F0F3FA"/>
          </a:solidFill>
          <a:ln w="9525">
            <a:noFill/>
          </a:ln>
        </p:spPr>
      </p:sp>
      <p:sp>
        <p:nvSpPr>
          <p:cNvPr id="1025" name="Genesis text 1025"/>
          <p:cNvSpPr txBox="1"/>
          <p:nvPr/>
        </p:nvSpPr>
        <p:spPr>
          <a:xfrm>
            <a:off x="7553325" y="1800225"/>
            <a:ext cx="1104900" cy="2381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 marL="0" indent="0">
              <a:lnSpc>
                <a:spcPct val="116000"/>
              </a:lnSpc>
              <a:buNone/>
            </a:pPr>
            <a:r>
              <a:rPr lang="en-AU" sz="1350" b="1" dirty="0">
                <a:solidFill>
                  <a:srgbClr val="315DEA"/>
                </a:solidFill>
                <a:latin typeface="Arial"/>
              </a:rPr>
              <a:t>A0</a:t>
            </a:r>
          </a:p>
        </p:txBody>
      </p:sp>
      <p:sp>
        <p:nvSpPr>
          <p:cNvPr id="1026" name="Genesis text 1026"/>
          <p:cNvSpPr txBox="1"/>
          <p:nvPr/>
        </p:nvSpPr>
        <p:spPr>
          <a:xfrm>
            <a:off x="7543800" y="2114550"/>
            <a:ext cx="1123950" cy="3429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 marL="0" indent="0">
              <a:lnSpc>
                <a:spcPct val="116000"/>
              </a:lnSpc>
              <a:buNone/>
            </a:pPr>
            <a:r>
              <a:rPr lang="en-AU" sz="1050" b="0" dirty="0">
                <a:solidFill>
                  <a:srgbClr val="17243B"/>
                </a:solidFill>
                <a:latin typeface="Arial"/>
              </a:rPr>
              <a:t>Priority / pre-label</a:t>
            </a:r>
          </a:p>
        </p:txBody>
      </p:sp>
      <p:sp>
        <p:nvSpPr>
          <p:cNvPr id="1027" name="Genesis text 1027"/>
          <p:cNvSpPr txBox="1"/>
          <p:nvPr/>
        </p:nvSpPr>
        <p:spPr>
          <a:xfrm>
            <a:off x="400050" y="2762250"/>
            <a:ext cx="8239125" cy="2381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275" b="0" dirty="0">
                <a:solidFill>
                  <a:srgbClr val="52627B"/>
                </a:solidFill>
                <a:latin typeface="Arial"/>
              </a:rPr>
              <a:t>Decision and learning: human feedback is required; generated labels do not qualify</a:t>
            </a:r>
          </a:p>
        </p:txBody>
      </p:sp>
      <p:sp>
        <p:nvSpPr>
          <p:cNvPr id="1028" name="Genesis rect 1028"/>
          <p:cNvSpPr/>
          <p:nvPr/>
        </p:nvSpPr>
        <p:spPr>
          <a:xfrm>
            <a:off x="381000" y="3181350"/>
            <a:ext cx="1943100" cy="866775"/>
          </a:xfrm>
          <a:prstGeom prst="rect">
            <a:avLst/>
          </a:prstGeom>
          <a:solidFill>
            <a:srgbClr val="EAF6F2"/>
          </a:solidFill>
          <a:ln w="9525">
            <a:noFill/>
          </a:ln>
        </p:spPr>
      </p:sp>
      <p:sp>
        <p:nvSpPr>
          <p:cNvPr id="1029" name="Genesis text 1029"/>
          <p:cNvSpPr txBox="1"/>
          <p:nvPr/>
        </p:nvSpPr>
        <p:spPr>
          <a:xfrm>
            <a:off x="476250" y="3305175"/>
            <a:ext cx="1752600" cy="2286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 marL="0" indent="0">
              <a:lnSpc>
                <a:spcPct val="116000"/>
              </a:lnSpc>
              <a:buNone/>
            </a:pPr>
            <a:r>
              <a:rPr lang="en-AU" sz="1350" b="1" dirty="0">
                <a:solidFill>
                  <a:srgbClr val="087F72"/>
                </a:solidFill>
                <a:latin typeface="Arial"/>
              </a:rPr>
              <a:t>Analyst verdict</a:t>
            </a:r>
          </a:p>
        </p:txBody>
      </p:sp>
      <p:sp>
        <p:nvSpPr>
          <p:cNvPr id="1030" name="Genesis text 1030"/>
          <p:cNvSpPr txBox="1"/>
          <p:nvPr/>
        </p:nvSpPr>
        <p:spPr>
          <a:xfrm>
            <a:off x="476250" y="3638550"/>
            <a:ext cx="1752600" cy="2667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 marL="0" indent="0">
              <a:lnSpc>
                <a:spcPct val="116000"/>
              </a:lnSpc>
              <a:buNone/>
            </a:pPr>
            <a:r>
              <a:rPr lang="en-AU" sz="1050" b="0" dirty="0">
                <a:solidFill>
                  <a:srgbClr val="17243B"/>
                </a:solidFill>
                <a:latin typeface="Arial"/>
              </a:rPr>
              <a:t>Frozen feedback</a:t>
            </a:r>
          </a:p>
        </p:txBody>
      </p:sp>
      <p:sp>
        <p:nvSpPr>
          <p:cNvPr id="1031" name="Genesis arrow 1031"/>
          <p:cNvSpPr/>
          <p:nvPr/>
        </p:nvSpPr>
        <p:spPr>
          <a:xfrm>
            <a:off x="2352675" y="3514725"/>
            <a:ext cx="142875" cy="142875"/>
          </a:xfrm>
          <a:prstGeom prst="rightArrow">
            <a:avLst/>
          </a:prstGeom>
          <a:solidFill>
            <a:srgbClr val="315DEA"/>
          </a:solidFill>
          <a:ln w="9525">
            <a:noFill/>
          </a:ln>
        </p:spPr>
      </p:sp>
      <p:sp>
        <p:nvSpPr>
          <p:cNvPr id="1032" name="Genesis rect 1032"/>
          <p:cNvSpPr/>
          <p:nvPr/>
        </p:nvSpPr>
        <p:spPr>
          <a:xfrm>
            <a:off x="2524125" y="3181350"/>
            <a:ext cx="1943100" cy="866775"/>
          </a:xfrm>
          <a:prstGeom prst="rect">
            <a:avLst/>
          </a:prstGeom>
          <a:solidFill>
            <a:srgbClr val="EAF6F2"/>
          </a:solidFill>
          <a:ln w="9525">
            <a:noFill/>
          </a:ln>
        </p:spPr>
      </p:sp>
      <p:sp>
        <p:nvSpPr>
          <p:cNvPr id="1033" name="Genesis text 1033"/>
          <p:cNvSpPr txBox="1"/>
          <p:nvPr/>
        </p:nvSpPr>
        <p:spPr>
          <a:xfrm>
            <a:off x="2619375" y="3305175"/>
            <a:ext cx="1752600" cy="2286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 marL="0" indent="0">
              <a:lnSpc>
                <a:spcPct val="116000"/>
              </a:lnSpc>
              <a:buNone/>
            </a:pPr>
            <a:r>
              <a:rPr lang="en-AU" sz="1350" b="1" dirty="0">
                <a:solidFill>
                  <a:srgbClr val="087F72"/>
                </a:solidFill>
                <a:latin typeface="Arial"/>
              </a:rPr>
              <a:t>A5 Evolution</a:t>
            </a:r>
          </a:p>
        </p:txBody>
      </p:sp>
      <p:sp>
        <p:nvSpPr>
          <p:cNvPr id="1034" name="Genesis text 1034"/>
          <p:cNvSpPr txBox="1"/>
          <p:nvPr/>
        </p:nvSpPr>
        <p:spPr>
          <a:xfrm>
            <a:off x="2619375" y="3638550"/>
            <a:ext cx="1752600" cy="2667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 marL="0" indent="0">
              <a:lnSpc>
                <a:spcPct val="116000"/>
              </a:lnSpc>
              <a:buNone/>
            </a:pPr>
            <a:r>
              <a:rPr lang="en-AU" sz="1050" b="0" dirty="0">
                <a:solidFill>
                  <a:srgbClr val="17243B"/>
                </a:solidFill>
                <a:latin typeface="Arial"/>
              </a:rPr>
              <a:t>Frozen evidence</a:t>
            </a:r>
          </a:p>
        </p:txBody>
      </p:sp>
      <p:sp>
        <p:nvSpPr>
          <p:cNvPr id="1035" name="Genesis arrow 1035"/>
          <p:cNvSpPr/>
          <p:nvPr/>
        </p:nvSpPr>
        <p:spPr>
          <a:xfrm>
            <a:off x="4495800" y="3514725"/>
            <a:ext cx="142875" cy="142875"/>
          </a:xfrm>
          <a:prstGeom prst="rightArrow">
            <a:avLst/>
          </a:prstGeom>
          <a:solidFill>
            <a:srgbClr val="315DEA"/>
          </a:solidFill>
          <a:ln w="9525">
            <a:noFill/>
          </a:ln>
        </p:spPr>
      </p:sp>
      <p:sp>
        <p:nvSpPr>
          <p:cNvPr id="1036" name="Genesis rect 1036"/>
          <p:cNvSpPr/>
          <p:nvPr/>
        </p:nvSpPr>
        <p:spPr>
          <a:xfrm>
            <a:off x="4667250" y="3181350"/>
            <a:ext cx="1943100" cy="866775"/>
          </a:xfrm>
          <a:prstGeom prst="rect">
            <a:avLst/>
          </a:prstGeom>
          <a:solidFill>
            <a:srgbClr val="EAF6F2"/>
          </a:solidFill>
          <a:ln w="9525">
            <a:noFill/>
          </a:ln>
        </p:spPr>
      </p:sp>
      <p:sp>
        <p:nvSpPr>
          <p:cNvPr id="1037" name="Genesis text 1037"/>
          <p:cNvSpPr txBox="1"/>
          <p:nvPr/>
        </p:nvSpPr>
        <p:spPr>
          <a:xfrm>
            <a:off x="4762500" y="3305175"/>
            <a:ext cx="1752600" cy="2286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 marL="0" indent="0">
              <a:lnSpc>
                <a:spcPct val="116000"/>
              </a:lnSpc>
              <a:buNone/>
            </a:pPr>
            <a:r>
              <a:rPr lang="en-AU" sz="1350" b="1" dirty="0">
                <a:solidFill>
                  <a:srgbClr val="087F72"/>
                </a:solidFill>
                <a:latin typeface="Arial"/>
              </a:rPr>
              <a:t>Python candidate</a:t>
            </a:r>
          </a:p>
        </p:txBody>
      </p:sp>
      <p:sp>
        <p:nvSpPr>
          <p:cNvPr id="1038" name="Genesis text 1038"/>
          <p:cNvSpPr txBox="1"/>
          <p:nvPr/>
        </p:nvSpPr>
        <p:spPr>
          <a:xfrm>
            <a:off x="4762500" y="3638550"/>
            <a:ext cx="1752600" cy="2667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 marL="0" indent="0">
              <a:lnSpc>
                <a:spcPct val="116000"/>
              </a:lnSpc>
              <a:buNone/>
            </a:pPr>
            <a:r>
              <a:rPr lang="en-AU" sz="1050" b="0" dirty="0">
                <a:solidFill>
                  <a:srgbClr val="17243B"/>
                </a:solidFill>
                <a:latin typeface="Arial"/>
              </a:rPr>
              <a:t>Fit + validation</a:t>
            </a:r>
          </a:p>
        </p:txBody>
      </p:sp>
      <p:sp>
        <p:nvSpPr>
          <p:cNvPr id="1039" name="Genesis arrow 1039"/>
          <p:cNvSpPr/>
          <p:nvPr/>
        </p:nvSpPr>
        <p:spPr>
          <a:xfrm>
            <a:off x="6638925" y="3514725"/>
            <a:ext cx="142875" cy="142875"/>
          </a:xfrm>
          <a:prstGeom prst="rightArrow">
            <a:avLst/>
          </a:prstGeom>
          <a:solidFill>
            <a:srgbClr val="315DEA"/>
          </a:solidFill>
          <a:ln w="9525">
            <a:noFill/>
          </a:ln>
        </p:spPr>
      </p:sp>
      <p:sp>
        <p:nvSpPr>
          <p:cNvPr id="1040" name="Genesis rect 1040"/>
          <p:cNvSpPr/>
          <p:nvPr/>
        </p:nvSpPr>
        <p:spPr>
          <a:xfrm>
            <a:off x="6810375" y="3181350"/>
            <a:ext cx="1943100" cy="866775"/>
          </a:xfrm>
          <a:prstGeom prst="rect">
            <a:avLst/>
          </a:prstGeom>
          <a:solidFill>
            <a:srgbClr val="EAF6F2"/>
          </a:solidFill>
          <a:ln w="9525">
            <a:noFill/>
          </a:ln>
        </p:spPr>
      </p:sp>
      <p:sp>
        <p:nvSpPr>
          <p:cNvPr id="1041" name="Genesis text 1041"/>
          <p:cNvSpPr txBox="1"/>
          <p:nvPr/>
        </p:nvSpPr>
        <p:spPr>
          <a:xfrm>
            <a:off x="6905625" y="3305175"/>
            <a:ext cx="1752600" cy="2286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 marL="0" indent="0">
              <a:lnSpc>
                <a:spcPct val="116000"/>
              </a:lnSpc>
              <a:buNone/>
            </a:pPr>
            <a:r>
              <a:rPr lang="en-AU" sz="1350" b="1" dirty="0">
                <a:solidFill>
                  <a:srgbClr val="087F72"/>
                </a:solidFill>
                <a:latin typeface="Arial"/>
              </a:rPr>
              <a:t>Explicit approval</a:t>
            </a:r>
          </a:p>
        </p:txBody>
      </p:sp>
      <p:sp>
        <p:nvSpPr>
          <p:cNvPr id="1042" name="Genesis text 1042"/>
          <p:cNvSpPr txBox="1"/>
          <p:nvPr/>
        </p:nvSpPr>
        <p:spPr>
          <a:xfrm>
            <a:off x="6905625" y="3638550"/>
            <a:ext cx="1752600" cy="2667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 marL="0" indent="0">
              <a:lnSpc>
                <a:spcPct val="116000"/>
              </a:lnSpc>
              <a:buNone/>
            </a:pPr>
            <a:r>
              <a:rPr lang="en-AU" sz="1050" b="0" dirty="0">
                <a:solidFill>
                  <a:srgbClr val="17243B"/>
                </a:solidFill>
                <a:latin typeface="Arial"/>
              </a:rPr>
              <a:t>Apply / observe / rollback</a:t>
            </a:r>
          </a:p>
        </p:txBody>
      </p:sp>
      <p:sp>
        <p:nvSpPr>
          <p:cNvPr id="1043" name="Genesis text 1043"/>
          <p:cNvSpPr txBox="1"/>
          <p:nvPr/>
        </p:nvSpPr>
        <p:spPr>
          <a:xfrm>
            <a:off x="400050" y="4371975"/>
            <a:ext cx="8258175" cy="3048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275" b="0" dirty="0">
                <a:solidFill>
                  <a:srgbClr val="52627B"/>
                </a:solidFill>
                <a:latin typeface="Arial"/>
              </a:rPr>
              <a:t>Missing context or protected signals require attention. AI output never becomes a human verdict.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enesis text 1000"/>
          <p:cNvSpPr txBox="1"/>
          <p:nvPr/>
        </p:nvSpPr>
        <p:spPr>
          <a:xfrm>
            <a:off x="304800" y="742950"/>
            <a:ext cx="8524875" cy="4286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2025" b="1" dirty="0">
                <a:solidFill>
                  <a:srgbClr val="17243B"/>
                </a:solidFill>
                <a:latin typeface="Arial"/>
              </a:rPr>
              <a:t>Wireframes / source-based screen map</a:t>
            </a:r>
          </a:p>
        </p:txBody>
      </p:sp>
      <p:sp>
        <p:nvSpPr>
          <p:cNvPr id="1001" name="Genesis text 1001"/>
          <p:cNvSpPr txBox="1"/>
          <p:nvPr/>
        </p:nvSpPr>
        <p:spPr>
          <a:xfrm>
            <a:off x="323850" y="4810125"/>
            <a:ext cx="8096250" cy="1809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825" b="0" dirty="0">
                <a:solidFill>
                  <a:srgbClr val="52627B"/>
                </a:solidFill>
                <a:latin typeface="Arial"/>
              </a:rPr>
              <a:t>AML Insight / Genesis  |  Repository evidence, 18 October 2026</a:t>
            </a:r>
          </a:p>
        </p:txBody>
      </p:sp>
      <p:sp>
        <p:nvSpPr>
          <p:cNvPr id="1002" name="Genesis text 1002"/>
          <p:cNvSpPr txBox="1"/>
          <p:nvPr/>
        </p:nvSpPr>
        <p:spPr>
          <a:xfrm>
            <a:off x="8429625" y="4810125"/>
            <a:ext cx="400050" cy="1809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r" marL="0" indent="0">
              <a:lnSpc>
                <a:spcPct val="116000"/>
              </a:lnSpc>
              <a:buNone/>
            </a:pPr>
            <a:r>
              <a:rPr lang="en-AU" sz="825" b="0" dirty="0">
                <a:solidFill>
                  <a:srgbClr val="52627B"/>
                </a:solidFill>
                <a:latin typeface="Arial"/>
              </a:rPr>
              <a:t>07</a:t>
            </a:r>
          </a:p>
        </p:txBody>
      </p:sp>
      <p:sp>
        <p:nvSpPr>
          <p:cNvPr id="1003" name="Genesis rect 1003"/>
          <p:cNvSpPr/>
          <p:nvPr/>
        </p:nvSpPr>
        <p:spPr>
          <a:xfrm>
            <a:off x="381000" y="1362075"/>
            <a:ext cx="2647950" cy="299085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B"/>
            </a:solidFill>
          </a:ln>
        </p:spPr>
      </p:sp>
      <p:sp>
        <p:nvSpPr>
          <p:cNvPr id="1004" name="Genesis rect 1004"/>
          <p:cNvSpPr/>
          <p:nvPr/>
        </p:nvSpPr>
        <p:spPr>
          <a:xfrm>
            <a:off x="381000" y="1362075"/>
            <a:ext cx="2647950" cy="371475"/>
          </a:xfrm>
          <a:prstGeom prst="rect">
            <a:avLst/>
          </a:prstGeom>
          <a:solidFill>
            <a:srgbClr val="17243B"/>
          </a:solidFill>
          <a:ln w="9525">
            <a:noFill/>
          </a:ln>
        </p:spPr>
      </p:sp>
      <p:sp>
        <p:nvSpPr>
          <p:cNvPr id="1005" name="Genesis text 1005"/>
          <p:cNvSpPr txBox="1"/>
          <p:nvPr/>
        </p:nvSpPr>
        <p:spPr>
          <a:xfrm>
            <a:off x="495300" y="1457325"/>
            <a:ext cx="2419350" cy="2095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200" b="1" dirty="0">
                <a:solidFill>
                  <a:srgbClr val="FFFFFF"/>
                </a:solidFill>
                <a:latin typeface="Arial"/>
              </a:rPr>
              <a:t>INVESTIGATIONS</a:t>
            </a:r>
          </a:p>
        </p:txBody>
      </p:sp>
      <p:sp>
        <p:nvSpPr>
          <p:cNvPr id="1006" name="Genesis rect 1006"/>
          <p:cNvSpPr/>
          <p:nvPr/>
        </p:nvSpPr>
        <p:spPr>
          <a:xfrm>
            <a:off x="3219450" y="1362075"/>
            <a:ext cx="2647950" cy="299085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B"/>
            </a:solidFill>
          </a:ln>
        </p:spPr>
      </p:sp>
      <p:sp>
        <p:nvSpPr>
          <p:cNvPr id="1007" name="Genesis rect 1007"/>
          <p:cNvSpPr/>
          <p:nvPr/>
        </p:nvSpPr>
        <p:spPr>
          <a:xfrm>
            <a:off x="3219450" y="1362075"/>
            <a:ext cx="2647950" cy="371475"/>
          </a:xfrm>
          <a:prstGeom prst="rect">
            <a:avLst/>
          </a:prstGeom>
          <a:solidFill>
            <a:srgbClr val="17243B"/>
          </a:solidFill>
          <a:ln w="9525">
            <a:noFill/>
          </a:ln>
        </p:spPr>
      </p:sp>
      <p:sp>
        <p:nvSpPr>
          <p:cNvPr id="1008" name="Genesis text 1008"/>
          <p:cNvSpPr txBox="1"/>
          <p:nvPr/>
        </p:nvSpPr>
        <p:spPr>
          <a:xfrm>
            <a:off x="3333750" y="1457325"/>
            <a:ext cx="2419350" cy="2095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200" b="1" dirty="0">
                <a:solidFill>
                  <a:srgbClr val="FFFFFF"/>
                </a:solidFill>
                <a:latin typeface="Arial"/>
              </a:rPr>
              <a:t>CASE DETAILS</a:t>
            </a:r>
          </a:p>
        </p:txBody>
      </p:sp>
      <p:sp>
        <p:nvSpPr>
          <p:cNvPr id="1009" name="Genesis rect 1009"/>
          <p:cNvSpPr/>
          <p:nvPr/>
        </p:nvSpPr>
        <p:spPr>
          <a:xfrm>
            <a:off x="6057900" y="1362075"/>
            <a:ext cx="2647950" cy="299085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B"/>
            </a:solidFill>
          </a:ln>
        </p:spPr>
      </p:sp>
      <p:sp>
        <p:nvSpPr>
          <p:cNvPr id="1010" name="Genesis rect 1010"/>
          <p:cNvSpPr/>
          <p:nvPr/>
        </p:nvSpPr>
        <p:spPr>
          <a:xfrm>
            <a:off x="6057900" y="1362075"/>
            <a:ext cx="2647950" cy="371475"/>
          </a:xfrm>
          <a:prstGeom prst="rect">
            <a:avLst/>
          </a:prstGeom>
          <a:solidFill>
            <a:srgbClr val="17243B"/>
          </a:solidFill>
          <a:ln w="9525">
            <a:noFill/>
          </a:ln>
        </p:spPr>
      </p:sp>
      <p:sp>
        <p:nvSpPr>
          <p:cNvPr id="1011" name="Genesis text 1011"/>
          <p:cNvSpPr txBox="1"/>
          <p:nvPr/>
        </p:nvSpPr>
        <p:spPr>
          <a:xfrm>
            <a:off x="6172200" y="1457325"/>
            <a:ext cx="2419350" cy="2095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200" b="1" dirty="0">
                <a:solidFill>
                  <a:srgbClr val="FFFFFF"/>
                </a:solidFill>
                <a:latin typeface="Arial"/>
              </a:rPr>
              <a:t>EVOLUTION LAB</a:t>
            </a:r>
          </a:p>
        </p:txBody>
      </p:sp>
      <p:sp>
        <p:nvSpPr>
          <p:cNvPr id="1012" name="Genesis rect 1012"/>
          <p:cNvSpPr/>
          <p:nvPr/>
        </p:nvSpPr>
        <p:spPr>
          <a:xfrm>
            <a:off x="495300" y="1895475"/>
            <a:ext cx="2419350" cy="314325"/>
          </a:xfrm>
          <a:prstGeom prst="rect">
            <a:avLst/>
          </a:prstGeom>
          <a:solidFill>
            <a:srgbClr val="F0F3FA"/>
          </a:solidFill>
          <a:ln w="9525">
            <a:noFill/>
          </a:ln>
        </p:spPr>
      </p:sp>
      <p:sp>
        <p:nvSpPr>
          <p:cNvPr id="1013" name="Genesis text 1013"/>
          <p:cNvSpPr txBox="1"/>
          <p:nvPr/>
        </p:nvSpPr>
        <p:spPr>
          <a:xfrm>
            <a:off x="581025" y="1962150"/>
            <a:ext cx="2247900" cy="2095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050" b="0" dirty="0">
                <a:solidFill>
                  <a:srgbClr val="17243B"/>
                </a:solidFill>
                <a:latin typeface="Arial"/>
              </a:rPr>
              <a:t>Dataset / coverage counters</a:t>
            </a:r>
          </a:p>
        </p:txBody>
      </p:sp>
      <p:sp>
        <p:nvSpPr>
          <p:cNvPr id="1014" name="Genesis rect 1014"/>
          <p:cNvSpPr/>
          <p:nvPr/>
        </p:nvSpPr>
        <p:spPr>
          <a:xfrm>
            <a:off x="495300" y="2276475"/>
            <a:ext cx="2419350" cy="314325"/>
          </a:xfrm>
          <a:prstGeom prst="rect">
            <a:avLst/>
          </a:prstGeom>
          <a:solidFill>
            <a:srgbClr val="F0F3FA"/>
          </a:solidFill>
          <a:ln w="9525">
            <a:noFill/>
          </a:ln>
        </p:spPr>
      </p:sp>
      <p:sp>
        <p:nvSpPr>
          <p:cNvPr id="1015" name="Genesis text 1015"/>
          <p:cNvSpPr txBox="1"/>
          <p:nvPr/>
        </p:nvSpPr>
        <p:spPr>
          <a:xfrm>
            <a:off x="581025" y="2343150"/>
            <a:ext cx="2247900" cy="2095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050" b="0" dirty="0">
                <a:solidFill>
                  <a:srgbClr val="17243B"/>
                </a:solidFill>
                <a:latin typeface="Arial"/>
              </a:rPr>
              <a:t>Identity + rule + status filters</a:t>
            </a:r>
          </a:p>
        </p:txBody>
      </p:sp>
      <p:sp>
        <p:nvSpPr>
          <p:cNvPr id="1016" name="Genesis rect 1016"/>
          <p:cNvSpPr/>
          <p:nvPr/>
        </p:nvSpPr>
        <p:spPr>
          <a:xfrm>
            <a:off x="495300" y="2657475"/>
            <a:ext cx="2419350" cy="314325"/>
          </a:xfrm>
          <a:prstGeom prst="rect">
            <a:avLst/>
          </a:prstGeom>
          <a:solidFill>
            <a:srgbClr val="F0F3FA"/>
          </a:solidFill>
          <a:ln w="9525">
            <a:noFill/>
          </a:ln>
        </p:spPr>
      </p:sp>
      <p:sp>
        <p:nvSpPr>
          <p:cNvPr id="1017" name="Genesis text 1017"/>
          <p:cNvSpPr txBox="1"/>
          <p:nvPr/>
        </p:nvSpPr>
        <p:spPr>
          <a:xfrm>
            <a:off x="581025" y="2724150"/>
            <a:ext cx="2247900" cy="2095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050" b="0" dirty="0">
                <a:solidFill>
                  <a:srgbClr val="17243B"/>
                </a:solidFill>
                <a:latin typeface="Arial"/>
              </a:rPr>
              <a:t>Paged investigation queue</a:t>
            </a:r>
          </a:p>
        </p:txBody>
      </p:sp>
      <p:sp>
        <p:nvSpPr>
          <p:cNvPr id="1018" name="Genesis rect 1018"/>
          <p:cNvSpPr/>
          <p:nvPr/>
        </p:nvSpPr>
        <p:spPr>
          <a:xfrm>
            <a:off x="495300" y="3038475"/>
            <a:ext cx="2419350" cy="314325"/>
          </a:xfrm>
          <a:prstGeom prst="rect">
            <a:avLst/>
          </a:prstGeom>
          <a:solidFill>
            <a:srgbClr val="F0F3FA"/>
          </a:solidFill>
          <a:ln w="9525">
            <a:noFill/>
          </a:ln>
        </p:spPr>
      </p:sp>
      <p:sp>
        <p:nvSpPr>
          <p:cNvPr id="1019" name="Genesis text 1019"/>
          <p:cNvSpPr txBox="1"/>
          <p:nvPr/>
        </p:nvSpPr>
        <p:spPr>
          <a:xfrm>
            <a:off x="581025" y="3105150"/>
            <a:ext cx="2247900" cy="2095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050" b="0" dirty="0">
                <a:solidFill>
                  <a:srgbClr val="17243B"/>
                </a:solidFill>
                <a:latin typeface="Arial"/>
              </a:rPr>
              <a:t>View details / reference</a:t>
            </a:r>
          </a:p>
        </p:txBody>
      </p:sp>
      <p:sp>
        <p:nvSpPr>
          <p:cNvPr id="1020" name="Genesis rect 1020"/>
          <p:cNvSpPr/>
          <p:nvPr/>
        </p:nvSpPr>
        <p:spPr>
          <a:xfrm>
            <a:off x="495300" y="3419475"/>
            <a:ext cx="2419350" cy="314325"/>
          </a:xfrm>
          <a:prstGeom prst="rect">
            <a:avLst/>
          </a:prstGeom>
          <a:solidFill>
            <a:srgbClr val="F0F3FA"/>
          </a:solidFill>
          <a:ln w="9525">
            <a:noFill/>
          </a:ln>
        </p:spPr>
      </p:sp>
      <p:sp>
        <p:nvSpPr>
          <p:cNvPr id="1021" name="Genesis text 1021"/>
          <p:cNvSpPr txBox="1"/>
          <p:nvPr/>
        </p:nvSpPr>
        <p:spPr>
          <a:xfrm>
            <a:off x="581025" y="3486150"/>
            <a:ext cx="2247900" cy="2095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050" b="0" dirty="0">
                <a:solidFill>
                  <a:srgbClr val="17243B"/>
                </a:solidFill>
                <a:latin typeface="Arial"/>
              </a:rPr>
              <a:t>Explicit triage preview</a:t>
            </a:r>
          </a:p>
        </p:txBody>
      </p:sp>
      <p:sp>
        <p:nvSpPr>
          <p:cNvPr id="1022" name="Genesis text 1022"/>
          <p:cNvSpPr txBox="1"/>
          <p:nvPr/>
        </p:nvSpPr>
        <p:spPr>
          <a:xfrm>
            <a:off x="3362325" y="1895475"/>
            <a:ext cx="2362200" cy="3238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200" b="0" dirty="0">
                <a:solidFill>
                  <a:srgbClr val="17243B"/>
                </a:solidFill>
                <a:latin typeface="Arial"/>
              </a:rPr>
              <a:t>Identity / account / trigger</a:t>
            </a:r>
          </a:p>
        </p:txBody>
      </p:sp>
      <p:sp>
        <p:nvSpPr>
          <p:cNvPr id="1023" name="Genesis text 1023"/>
          <p:cNvSpPr txBox="1"/>
          <p:nvPr/>
        </p:nvSpPr>
        <p:spPr>
          <a:xfrm>
            <a:off x="3362325" y="2276475"/>
            <a:ext cx="2362200" cy="3238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200" b="0" dirty="0">
                <a:solidFill>
                  <a:srgbClr val="17243B"/>
                </a:solidFill>
                <a:latin typeface="Arial"/>
              </a:rPr>
              <a:t>Risk dimensions + evidence</a:t>
            </a:r>
          </a:p>
        </p:txBody>
      </p:sp>
      <p:sp>
        <p:nvSpPr>
          <p:cNvPr id="1024" name="Genesis text 1024"/>
          <p:cNvSpPr txBox="1"/>
          <p:nvPr/>
        </p:nvSpPr>
        <p:spPr>
          <a:xfrm>
            <a:off x="3362325" y="2657475"/>
            <a:ext cx="2362200" cy="3238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200" b="0" dirty="0">
                <a:solidFill>
                  <a:srgbClr val="17243B"/>
                </a:solidFill>
                <a:latin typeface="Arial"/>
              </a:rPr>
              <a:t>A2 → A3 → A4 → A0 trace</a:t>
            </a:r>
          </a:p>
        </p:txBody>
      </p:sp>
      <p:sp>
        <p:nvSpPr>
          <p:cNvPr id="1025" name="Genesis text 1025"/>
          <p:cNvSpPr txBox="1"/>
          <p:nvPr/>
        </p:nvSpPr>
        <p:spPr>
          <a:xfrm>
            <a:off x="3362325" y="3038475"/>
            <a:ext cx="2362200" cy="3238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200" b="0" dirty="0">
                <a:solidFill>
                  <a:srgbClr val="17243B"/>
                </a:solidFill>
                <a:latin typeface="Arial"/>
              </a:rPr>
              <a:t>Transactions / citations</a:t>
            </a:r>
          </a:p>
        </p:txBody>
      </p:sp>
      <p:sp>
        <p:nvSpPr>
          <p:cNvPr id="1026" name="Genesis text 1026"/>
          <p:cNvSpPr txBox="1"/>
          <p:nvPr/>
        </p:nvSpPr>
        <p:spPr>
          <a:xfrm>
            <a:off x="3362325" y="3419475"/>
            <a:ext cx="2362200" cy="3238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200" b="0" dirty="0">
                <a:solidFill>
                  <a:srgbClr val="17243B"/>
                </a:solidFill>
                <a:latin typeface="Arial"/>
              </a:rPr>
              <a:t>Saved analyst verdict</a:t>
            </a:r>
          </a:p>
        </p:txBody>
      </p:sp>
      <p:sp>
        <p:nvSpPr>
          <p:cNvPr id="1027" name="Genesis text 1027"/>
          <p:cNvSpPr txBox="1"/>
          <p:nvPr/>
        </p:nvSpPr>
        <p:spPr>
          <a:xfrm>
            <a:off x="6200775" y="1895475"/>
            <a:ext cx="2362200" cy="3429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200" b="0" dirty="0">
                <a:solidFill>
                  <a:srgbClr val="17243B"/>
                </a:solidFill>
                <a:latin typeface="Arial"/>
              </a:rPr>
              <a:t>Outcomes / Understand / Learn</a:t>
            </a:r>
          </a:p>
        </p:txBody>
      </p:sp>
      <p:sp>
        <p:nvSpPr>
          <p:cNvPr id="1028" name="Genesis text 1028"/>
          <p:cNvSpPr txBox="1"/>
          <p:nvPr/>
        </p:nvSpPr>
        <p:spPr>
          <a:xfrm>
            <a:off x="6200775" y="2276475"/>
            <a:ext cx="2362200" cy="3429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200" b="0" dirty="0">
                <a:solidFill>
                  <a:srgbClr val="17243B"/>
                </a:solidFill>
                <a:latin typeface="Arial"/>
              </a:rPr>
              <a:t>Reference / simulated / human</a:t>
            </a:r>
          </a:p>
        </p:txBody>
      </p:sp>
      <p:sp>
        <p:nvSpPr>
          <p:cNvPr id="1029" name="Genesis text 1029"/>
          <p:cNvSpPr txBox="1"/>
          <p:nvPr/>
        </p:nvSpPr>
        <p:spPr>
          <a:xfrm>
            <a:off x="6200775" y="2657475"/>
            <a:ext cx="2362200" cy="3429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200" b="0" dirty="0">
                <a:solidFill>
                  <a:srgbClr val="17243B"/>
                </a:solidFill>
                <a:latin typeface="Arial"/>
              </a:rPr>
              <a:t>Nine-rule matrix + trends</a:t>
            </a:r>
          </a:p>
        </p:txBody>
      </p:sp>
      <p:sp>
        <p:nvSpPr>
          <p:cNvPr id="1030" name="Genesis text 1030"/>
          <p:cNvSpPr txBox="1"/>
          <p:nvPr/>
        </p:nvSpPr>
        <p:spPr>
          <a:xfrm>
            <a:off x="6200775" y="3038475"/>
            <a:ext cx="2362200" cy="3429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200" b="0" dirty="0">
                <a:solidFill>
                  <a:srgbClr val="17243B"/>
                </a:solidFill>
                <a:latin typeface="Arial"/>
              </a:rPr>
              <a:t>Candidate evidence + validation</a:t>
            </a:r>
          </a:p>
        </p:txBody>
      </p:sp>
      <p:sp>
        <p:nvSpPr>
          <p:cNvPr id="1031" name="Genesis text 1031"/>
          <p:cNvSpPr txBox="1"/>
          <p:nvPr/>
        </p:nvSpPr>
        <p:spPr>
          <a:xfrm>
            <a:off x="6200775" y="3419475"/>
            <a:ext cx="2362200" cy="3429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200" b="0" dirty="0">
                <a:solidFill>
                  <a:srgbClr val="17243B"/>
                </a:solidFill>
                <a:latin typeface="Arial"/>
              </a:rPr>
              <a:t>Apply / Observe / rollback</a:t>
            </a:r>
          </a:p>
        </p:txBody>
      </p:sp>
      <p:sp>
        <p:nvSpPr>
          <p:cNvPr id="1032" name="Genesis text 1032"/>
          <p:cNvSpPr txBox="1"/>
          <p:nvPr/>
        </p:nvSpPr>
        <p:spPr>
          <a:xfrm>
            <a:off x="523875" y="3857625"/>
            <a:ext cx="2381250" cy="333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050" b="0" dirty="0">
                <a:solidFill>
                  <a:srgbClr val="52627B"/>
                </a:solidFill>
                <a:latin typeface="Arial"/>
              </a:rPr>
              <a:t>Read-only browsing; explicit actions.</a:t>
            </a:r>
          </a:p>
        </p:txBody>
      </p:sp>
      <p:sp>
        <p:nvSpPr>
          <p:cNvPr id="1033" name="Genesis text 1033"/>
          <p:cNvSpPr txBox="1"/>
          <p:nvPr/>
        </p:nvSpPr>
        <p:spPr>
          <a:xfrm>
            <a:off x="3362325" y="3857625"/>
            <a:ext cx="2362200" cy="333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050" b="0" dirty="0">
                <a:solidFill>
                  <a:srgbClr val="52627B"/>
                </a:solidFill>
                <a:latin typeface="Arial"/>
              </a:rPr>
              <a:t>Private outputs require operator access.</a:t>
            </a:r>
          </a:p>
        </p:txBody>
      </p:sp>
      <p:sp>
        <p:nvSpPr>
          <p:cNvPr id="1034" name="Genesis text 1034"/>
          <p:cNvSpPr txBox="1"/>
          <p:nvPr/>
        </p:nvSpPr>
        <p:spPr>
          <a:xfrm>
            <a:off x="6200775" y="3857625"/>
            <a:ext cx="2362200" cy="333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050" b="0" dirty="0">
                <a:solidFill>
                  <a:srgbClr val="52627B"/>
                </a:solidFill>
                <a:latin typeface="Arial"/>
              </a:rPr>
              <a:t>Simulation is labeled; no silent activation.</a:t>
            </a:r>
          </a:p>
        </p:txBody>
      </p:sp>
      <p:sp>
        <p:nvSpPr>
          <p:cNvPr id="1035" name="Genesis text 1035"/>
          <p:cNvSpPr txBox="1"/>
          <p:nvPr/>
        </p:nvSpPr>
        <p:spPr>
          <a:xfrm>
            <a:off x="400050" y="4514850"/>
            <a:ext cx="8239125" cy="2095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125" b="0" dirty="0">
                <a:solidFill>
                  <a:srgbClr val="52627B"/>
                </a:solidFill>
                <a:latin typeface="Arial"/>
              </a:rPr>
              <a:t>Schematic of existing components; actual prototype screenshots follow on slide 11.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enesis text 1000"/>
          <p:cNvSpPr txBox="1"/>
          <p:nvPr/>
        </p:nvSpPr>
        <p:spPr>
          <a:xfrm>
            <a:off x="304800" y="742950"/>
            <a:ext cx="8524875" cy="4286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2025" b="1" dirty="0">
                <a:solidFill>
                  <a:srgbClr val="17243B"/>
                </a:solidFill>
                <a:latin typeface="Arial"/>
              </a:rPr>
              <a:t>Architecture of the solution</a:t>
            </a:r>
          </a:p>
        </p:txBody>
      </p:sp>
      <p:sp>
        <p:nvSpPr>
          <p:cNvPr id="1001" name="Genesis text 1001"/>
          <p:cNvSpPr txBox="1"/>
          <p:nvPr/>
        </p:nvSpPr>
        <p:spPr>
          <a:xfrm>
            <a:off x="323850" y="4810125"/>
            <a:ext cx="8096250" cy="1809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825" b="0" dirty="0">
                <a:solidFill>
                  <a:srgbClr val="52627B"/>
                </a:solidFill>
                <a:latin typeface="Arial"/>
              </a:rPr>
              <a:t>AML Insight / Genesis  |  Repository evidence, 18 October 2026</a:t>
            </a:r>
          </a:p>
        </p:txBody>
      </p:sp>
      <p:sp>
        <p:nvSpPr>
          <p:cNvPr id="1002" name="Genesis text 1002"/>
          <p:cNvSpPr txBox="1"/>
          <p:nvPr/>
        </p:nvSpPr>
        <p:spPr>
          <a:xfrm>
            <a:off x="8429625" y="4810125"/>
            <a:ext cx="400050" cy="1809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r" marL="0" indent="0">
              <a:lnSpc>
                <a:spcPct val="116000"/>
              </a:lnSpc>
              <a:buNone/>
            </a:pPr>
            <a:r>
              <a:rPr lang="en-AU" sz="825" b="0" dirty="0">
                <a:solidFill>
                  <a:srgbClr val="52627B"/>
                </a:solidFill>
                <a:latin typeface="Arial"/>
              </a:rPr>
              <a:t>08</a:t>
            </a:r>
          </a:p>
        </p:txBody>
      </p:sp>
      <p:sp>
        <p:nvSpPr>
          <p:cNvPr id="1003" name="Genesis rect 1003"/>
          <p:cNvSpPr/>
          <p:nvPr/>
        </p:nvSpPr>
        <p:spPr>
          <a:xfrm>
            <a:off x="381000" y="1343025"/>
            <a:ext cx="2324100" cy="828675"/>
          </a:xfrm>
          <a:prstGeom prst="rect">
            <a:avLst/>
          </a:prstGeom>
          <a:solidFill>
            <a:srgbClr val="F0F3FA"/>
          </a:solidFill>
          <a:ln w="9525">
            <a:noFill/>
          </a:ln>
        </p:spPr>
      </p:sp>
      <p:sp>
        <p:nvSpPr>
          <p:cNvPr id="1004" name="Genesis rect 1004"/>
          <p:cNvSpPr/>
          <p:nvPr/>
        </p:nvSpPr>
        <p:spPr>
          <a:xfrm>
            <a:off x="381000" y="1343025"/>
            <a:ext cx="38100" cy="828675"/>
          </a:xfrm>
          <a:prstGeom prst="rect">
            <a:avLst/>
          </a:prstGeom>
          <a:solidFill>
            <a:srgbClr val="315DEA"/>
          </a:solidFill>
          <a:ln w="9525">
            <a:noFill/>
          </a:ln>
        </p:spPr>
      </p:sp>
      <p:sp>
        <p:nvSpPr>
          <p:cNvPr id="1005" name="Genesis text 1005"/>
          <p:cNvSpPr txBox="1"/>
          <p:nvPr/>
        </p:nvSpPr>
        <p:spPr>
          <a:xfrm>
            <a:off x="533400" y="1466850"/>
            <a:ext cx="2038350" cy="2571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425" b="1" dirty="0">
                <a:solidFill>
                  <a:srgbClr val="315DEA"/>
                </a:solidFill>
                <a:latin typeface="Arial"/>
              </a:rPr>
              <a:t>Browser</a:t>
            </a:r>
          </a:p>
        </p:txBody>
      </p:sp>
      <p:sp>
        <p:nvSpPr>
          <p:cNvPr id="1006" name="Genesis text 1006"/>
          <p:cNvSpPr txBox="1"/>
          <p:nvPr/>
        </p:nvSpPr>
        <p:spPr>
          <a:xfrm>
            <a:off x="533400" y="1781175"/>
            <a:ext cx="2038350" cy="3238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200" b="0" dirty="0">
                <a:solidFill>
                  <a:srgbClr val="17243B"/>
                </a:solidFill>
                <a:latin typeface="Arial"/>
              </a:rPr>
              <a:t>React / TypeScript / Vite</a:t>
            </a:r>
          </a:p>
        </p:txBody>
      </p:sp>
      <p:sp>
        <p:nvSpPr>
          <p:cNvPr id="1007" name="Genesis rect 1007"/>
          <p:cNvSpPr/>
          <p:nvPr/>
        </p:nvSpPr>
        <p:spPr>
          <a:xfrm>
            <a:off x="3371850" y="1343025"/>
            <a:ext cx="2324100" cy="828675"/>
          </a:xfrm>
          <a:prstGeom prst="rect">
            <a:avLst/>
          </a:prstGeom>
          <a:solidFill>
            <a:srgbClr val="F0F3FA"/>
          </a:solidFill>
          <a:ln w="9525">
            <a:noFill/>
          </a:ln>
        </p:spPr>
      </p:sp>
      <p:sp>
        <p:nvSpPr>
          <p:cNvPr id="1008" name="Genesis rect 1008"/>
          <p:cNvSpPr/>
          <p:nvPr/>
        </p:nvSpPr>
        <p:spPr>
          <a:xfrm>
            <a:off x="3371850" y="1343025"/>
            <a:ext cx="38100" cy="828675"/>
          </a:xfrm>
          <a:prstGeom prst="rect">
            <a:avLst/>
          </a:prstGeom>
          <a:solidFill>
            <a:srgbClr val="315DEA"/>
          </a:solidFill>
          <a:ln w="9525">
            <a:noFill/>
          </a:ln>
        </p:spPr>
      </p:sp>
      <p:sp>
        <p:nvSpPr>
          <p:cNvPr id="1009" name="Genesis text 1009"/>
          <p:cNvSpPr txBox="1"/>
          <p:nvPr/>
        </p:nvSpPr>
        <p:spPr>
          <a:xfrm>
            <a:off x="3524250" y="1466850"/>
            <a:ext cx="2038350" cy="2571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425" b="1" dirty="0">
                <a:solidFill>
                  <a:srgbClr val="315DEA"/>
                </a:solidFill>
                <a:latin typeface="Arial"/>
              </a:rPr>
              <a:t>Cloud Run: web</a:t>
            </a:r>
          </a:p>
        </p:txBody>
      </p:sp>
      <p:sp>
        <p:nvSpPr>
          <p:cNvPr id="1010" name="Genesis text 1010"/>
          <p:cNvSpPr txBox="1"/>
          <p:nvPr/>
        </p:nvSpPr>
        <p:spPr>
          <a:xfrm>
            <a:off x="3524250" y="1781175"/>
            <a:ext cx="2038350" cy="3238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200" b="0" dirty="0">
                <a:solidFill>
                  <a:srgbClr val="17243B"/>
                </a:solidFill>
                <a:latin typeface="Arial"/>
              </a:rPr>
              <a:t>FastAPI / web + private API</a:t>
            </a:r>
          </a:p>
        </p:txBody>
      </p:sp>
      <p:sp>
        <p:nvSpPr>
          <p:cNvPr id="1011" name="Genesis rect 1011"/>
          <p:cNvSpPr/>
          <p:nvPr/>
        </p:nvSpPr>
        <p:spPr>
          <a:xfrm>
            <a:off x="6362700" y="1343025"/>
            <a:ext cx="2324100" cy="828675"/>
          </a:xfrm>
          <a:prstGeom prst="rect">
            <a:avLst/>
          </a:prstGeom>
          <a:solidFill>
            <a:srgbClr val="F0F3FA"/>
          </a:solidFill>
          <a:ln w="9525">
            <a:noFill/>
          </a:ln>
        </p:spPr>
      </p:sp>
      <p:sp>
        <p:nvSpPr>
          <p:cNvPr id="1012" name="Genesis rect 1012"/>
          <p:cNvSpPr/>
          <p:nvPr/>
        </p:nvSpPr>
        <p:spPr>
          <a:xfrm>
            <a:off x="6362700" y="1343025"/>
            <a:ext cx="38100" cy="828675"/>
          </a:xfrm>
          <a:prstGeom prst="rect">
            <a:avLst/>
          </a:prstGeom>
          <a:solidFill>
            <a:srgbClr val="315DEA"/>
          </a:solidFill>
          <a:ln w="9525">
            <a:noFill/>
          </a:ln>
        </p:spPr>
      </p:sp>
      <p:sp>
        <p:nvSpPr>
          <p:cNvPr id="1013" name="Genesis text 1013"/>
          <p:cNvSpPr txBox="1"/>
          <p:nvPr/>
        </p:nvSpPr>
        <p:spPr>
          <a:xfrm>
            <a:off x="6515100" y="1466850"/>
            <a:ext cx="2038350" cy="2571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425" b="1" dirty="0">
                <a:solidFill>
                  <a:srgbClr val="315DEA"/>
                </a:solidFill>
                <a:latin typeface="Arial"/>
              </a:rPr>
              <a:t>Firebase Auth</a:t>
            </a:r>
          </a:p>
        </p:txBody>
      </p:sp>
      <p:sp>
        <p:nvSpPr>
          <p:cNvPr id="1014" name="Genesis text 1014"/>
          <p:cNvSpPr txBox="1"/>
          <p:nvPr/>
        </p:nvSpPr>
        <p:spPr>
          <a:xfrm>
            <a:off x="6515100" y="1781175"/>
            <a:ext cx="2038350" cy="3238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200" b="0" dirty="0">
                <a:solidFill>
                  <a:srgbClr val="17243B"/>
                </a:solidFill>
                <a:latin typeface="Arial"/>
              </a:rPr>
              <a:t>Human sign-in / UID allowlists</a:t>
            </a:r>
          </a:p>
        </p:txBody>
      </p:sp>
      <p:sp>
        <p:nvSpPr>
          <p:cNvPr id="1015" name="Genesis arrow 1015"/>
          <p:cNvSpPr/>
          <p:nvPr/>
        </p:nvSpPr>
        <p:spPr>
          <a:xfrm>
            <a:off x="2886075" y="1657350"/>
            <a:ext cx="285750" cy="171450"/>
          </a:xfrm>
          <a:prstGeom prst="rightArrow">
            <a:avLst/>
          </a:prstGeom>
          <a:solidFill>
            <a:srgbClr val="315DEA"/>
          </a:solidFill>
          <a:ln w="9525">
            <a:noFill/>
          </a:ln>
        </p:spPr>
      </p:sp>
      <p:sp>
        <p:nvSpPr>
          <p:cNvPr id="1016" name="Genesis arrow 1016"/>
          <p:cNvSpPr/>
          <p:nvPr/>
        </p:nvSpPr>
        <p:spPr>
          <a:xfrm>
            <a:off x="5857875" y="1657350"/>
            <a:ext cx="285750" cy="171450"/>
          </a:xfrm>
          <a:prstGeom prst="rightArrow">
            <a:avLst/>
          </a:prstGeom>
          <a:solidFill>
            <a:srgbClr val="315DEA"/>
          </a:solidFill>
          <a:ln w="9525">
            <a:noFill/>
          </a:ln>
        </p:spPr>
      </p:sp>
      <p:sp>
        <p:nvSpPr>
          <p:cNvPr id="1017" name="Genesis rect 1017"/>
          <p:cNvSpPr/>
          <p:nvPr/>
        </p:nvSpPr>
        <p:spPr>
          <a:xfrm>
            <a:off x="381000" y="2714625"/>
            <a:ext cx="2324100" cy="866775"/>
          </a:xfrm>
          <a:prstGeom prst="rect">
            <a:avLst/>
          </a:prstGeom>
          <a:solidFill>
            <a:srgbClr val="F0F3FA"/>
          </a:solidFill>
          <a:ln w="9525">
            <a:noFill/>
          </a:ln>
        </p:spPr>
      </p:sp>
      <p:sp>
        <p:nvSpPr>
          <p:cNvPr id="1018" name="Genesis rect 1018"/>
          <p:cNvSpPr/>
          <p:nvPr/>
        </p:nvSpPr>
        <p:spPr>
          <a:xfrm>
            <a:off x="381000" y="2714625"/>
            <a:ext cx="38100" cy="866775"/>
          </a:xfrm>
          <a:prstGeom prst="rect">
            <a:avLst/>
          </a:prstGeom>
          <a:solidFill>
            <a:srgbClr val="087F72"/>
          </a:solidFill>
          <a:ln w="9525">
            <a:noFill/>
          </a:ln>
        </p:spPr>
      </p:sp>
      <p:sp>
        <p:nvSpPr>
          <p:cNvPr id="1019" name="Genesis text 1019"/>
          <p:cNvSpPr txBox="1"/>
          <p:nvPr/>
        </p:nvSpPr>
        <p:spPr>
          <a:xfrm>
            <a:off x="533400" y="2838450"/>
            <a:ext cx="2038350" cy="2571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425" b="1" dirty="0">
                <a:solidFill>
                  <a:srgbClr val="087F72"/>
                </a:solidFill>
                <a:latin typeface="Arial"/>
              </a:rPr>
              <a:t>Firestore</a:t>
            </a:r>
          </a:p>
        </p:txBody>
      </p:sp>
      <p:sp>
        <p:nvSpPr>
          <p:cNvPr id="1020" name="Genesis text 1020"/>
          <p:cNvSpPr txBox="1"/>
          <p:nvPr/>
        </p:nvSpPr>
        <p:spPr>
          <a:xfrm>
            <a:off x="533400" y="3152775"/>
            <a:ext cx="2038350" cy="3619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200" b="0" dirty="0">
                <a:solidFill>
                  <a:srgbClr val="17243B"/>
                </a:solidFill>
                <a:latin typeface="Arial"/>
              </a:rPr>
              <a:t>Sources / runs / reviews / versions</a:t>
            </a:r>
          </a:p>
        </p:txBody>
      </p:sp>
      <p:sp>
        <p:nvSpPr>
          <p:cNvPr id="1021" name="Genesis rect 1021"/>
          <p:cNvSpPr/>
          <p:nvPr/>
        </p:nvSpPr>
        <p:spPr>
          <a:xfrm>
            <a:off x="3371850" y="2714625"/>
            <a:ext cx="2324100" cy="866775"/>
          </a:xfrm>
          <a:prstGeom prst="rect">
            <a:avLst/>
          </a:prstGeom>
          <a:solidFill>
            <a:srgbClr val="F0F3FA"/>
          </a:solidFill>
          <a:ln w="9525">
            <a:noFill/>
          </a:ln>
        </p:spPr>
      </p:sp>
      <p:sp>
        <p:nvSpPr>
          <p:cNvPr id="1022" name="Genesis rect 1022"/>
          <p:cNvSpPr/>
          <p:nvPr/>
        </p:nvSpPr>
        <p:spPr>
          <a:xfrm>
            <a:off x="3371850" y="2714625"/>
            <a:ext cx="38100" cy="866775"/>
          </a:xfrm>
          <a:prstGeom prst="rect">
            <a:avLst/>
          </a:prstGeom>
          <a:solidFill>
            <a:srgbClr val="315DEA"/>
          </a:solidFill>
          <a:ln w="9525">
            <a:noFill/>
          </a:ln>
        </p:spPr>
      </p:sp>
      <p:sp>
        <p:nvSpPr>
          <p:cNvPr id="1023" name="Genesis text 1023"/>
          <p:cNvSpPr txBox="1"/>
          <p:nvPr/>
        </p:nvSpPr>
        <p:spPr>
          <a:xfrm>
            <a:off x="3524250" y="2838450"/>
            <a:ext cx="2038350" cy="2571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425" b="1" dirty="0">
                <a:solidFill>
                  <a:srgbClr val="315DEA"/>
                </a:solidFill>
                <a:latin typeface="Arial"/>
              </a:rPr>
              <a:t>Cloud Tasks</a:t>
            </a:r>
          </a:p>
        </p:txBody>
      </p:sp>
      <p:sp>
        <p:nvSpPr>
          <p:cNvPr id="1024" name="Genesis text 1024"/>
          <p:cNvSpPr txBox="1"/>
          <p:nvPr/>
        </p:nvSpPr>
        <p:spPr>
          <a:xfrm>
            <a:off x="3524250" y="3152775"/>
            <a:ext cx="2038350" cy="3619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200" b="0" dirty="0">
                <a:solidFill>
                  <a:srgbClr val="17243B"/>
                </a:solidFill>
                <a:latin typeface="Arial"/>
              </a:rPr>
              <a:t>Named jobs / OIDC delivery</a:t>
            </a:r>
          </a:p>
        </p:txBody>
      </p:sp>
      <p:sp>
        <p:nvSpPr>
          <p:cNvPr id="1025" name="Genesis rect 1025"/>
          <p:cNvSpPr/>
          <p:nvPr/>
        </p:nvSpPr>
        <p:spPr>
          <a:xfrm>
            <a:off x="6362700" y="2714625"/>
            <a:ext cx="2324100" cy="866775"/>
          </a:xfrm>
          <a:prstGeom prst="rect">
            <a:avLst/>
          </a:prstGeom>
          <a:solidFill>
            <a:srgbClr val="F0F3FA"/>
          </a:solidFill>
          <a:ln w="9525">
            <a:noFill/>
          </a:ln>
        </p:spPr>
      </p:sp>
      <p:sp>
        <p:nvSpPr>
          <p:cNvPr id="1026" name="Genesis rect 1026"/>
          <p:cNvSpPr/>
          <p:nvPr/>
        </p:nvSpPr>
        <p:spPr>
          <a:xfrm>
            <a:off x="6362700" y="2714625"/>
            <a:ext cx="38100" cy="866775"/>
          </a:xfrm>
          <a:prstGeom prst="rect">
            <a:avLst/>
          </a:prstGeom>
          <a:solidFill>
            <a:srgbClr val="315DEA"/>
          </a:solidFill>
          <a:ln w="9525">
            <a:noFill/>
          </a:ln>
        </p:spPr>
      </p:sp>
      <p:sp>
        <p:nvSpPr>
          <p:cNvPr id="1027" name="Genesis text 1027"/>
          <p:cNvSpPr txBox="1"/>
          <p:nvPr/>
        </p:nvSpPr>
        <p:spPr>
          <a:xfrm>
            <a:off x="6515100" y="2838450"/>
            <a:ext cx="2038350" cy="2571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425" b="1" dirty="0">
                <a:solidFill>
                  <a:srgbClr val="315DEA"/>
                </a:solidFill>
                <a:latin typeface="Arial"/>
              </a:rPr>
              <a:t>Cloud Run: worker</a:t>
            </a:r>
          </a:p>
        </p:txBody>
      </p:sp>
      <p:sp>
        <p:nvSpPr>
          <p:cNvPr id="1028" name="Genesis text 1028"/>
          <p:cNvSpPr txBox="1"/>
          <p:nvPr/>
        </p:nvSpPr>
        <p:spPr>
          <a:xfrm>
            <a:off x="6515100" y="3152775"/>
            <a:ext cx="2038350" cy="3619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200" b="0" dirty="0">
                <a:solidFill>
                  <a:srgbClr val="17243B"/>
                </a:solidFill>
                <a:latin typeface="Arial"/>
              </a:rPr>
              <a:t>Leases / stages / attempt ledger</a:t>
            </a:r>
          </a:p>
        </p:txBody>
      </p:sp>
      <p:sp>
        <p:nvSpPr>
          <p:cNvPr id="1029" name="Genesis arrow 1029"/>
          <p:cNvSpPr/>
          <p:nvPr/>
        </p:nvSpPr>
        <p:spPr>
          <a:xfrm>
            <a:off x="5857875" y="3057525"/>
            <a:ext cx="285750" cy="171450"/>
          </a:xfrm>
          <a:prstGeom prst="rightArrow">
            <a:avLst/>
          </a:prstGeom>
          <a:solidFill>
            <a:srgbClr val="315DEA"/>
          </a:solidFill>
          <a:ln w="9525">
            <a:noFill/>
          </a:ln>
        </p:spPr>
      </p:sp>
      <p:sp>
        <p:nvSpPr>
          <p:cNvPr id="1030" name="Genesis text 1030"/>
          <p:cNvSpPr txBox="1"/>
          <p:nvPr/>
        </p:nvSpPr>
        <p:spPr>
          <a:xfrm>
            <a:off x="476250" y="2324100"/>
            <a:ext cx="8096250" cy="2381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ctr" marL="0" indent="0">
              <a:lnSpc>
                <a:spcPct val="116000"/>
              </a:lnSpc>
              <a:buNone/>
            </a:pPr>
            <a:r>
              <a:rPr lang="en-AU" sz="1275" b="0" dirty="0">
                <a:solidFill>
                  <a:srgbClr val="52627B"/>
                </a:solidFill>
                <a:latin typeface="Arial"/>
              </a:rPr>
              <a:t>Web ↔ Firestore   •   Web → Tasks → worker   •   Worker ↔ Firestore</a:t>
            </a:r>
          </a:p>
        </p:txBody>
      </p:sp>
      <p:sp>
        <p:nvSpPr>
          <p:cNvPr id="1031" name="Genesis rect 1031"/>
          <p:cNvSpPr/>
          <p:nvPr/>
        </p:nvSpPr>
        <p:spPr>
          <a:xfrm>
            <a:off x="3371850" y="3857625"/>
            <a:ext cx="5314950" cy="581025"/>
          </a:xfrm>
          <a:prstGeom prst="rect">
            <a:avLst/>
          </a:prstGeom>
          <a:solidFill>
            <a:srgbClr val="EAF6F2"/>
          </a:solidFill>
          <a:ln w="9525">
            <a:noFill/>
          </a:ln>
        </p:spPr>
      </p:sp>
      <p:sp>
        <p:nvSpPr>
          <p:cNvPr id="1032" name="Genesis text 1032"/>
          <p:cNvSpPr txBox="1"/>
          <p:nvPr/>
        </p:nvSpPr>
        <p:spPr>
          <a:xfrm>
            <a:off x="3533775" y="3971925"/>
            <a:ext cx="4991100" cy="3619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200" b="0" dirty="0">
                <a:solidFill>
                  <a:srgbClr val="087F72"/>
                </a:solidFill>
                <a:latin typeface="Arial"/>
              </a:rPr>
              <a:t>Worker → Gemini via google-genai</a:t>
            </a:r>
          </a:p>
          <a:p>
            <a:pPr algn="l" marL="0" indent="0">
              <a:lnSpc>
                <a:spcPct val="116000"/>
              </a:lnSpc>
              <a:buNone/>
            </a:pPr>
            <a:r>
              <a:rPr lang="en-AU" sz="1200" b="0" dirty="0">
                <a:solidFill>
                  <a:srgbClr val="087F72"/>
                </a:solidFill>
                <a:latin typeface="Arial"/>
              </a:rPr>
              <a:t>Managed cloud identity; separate opt-in local Developer API path.</a:t>
            </a:r>
          </a:p>
        </p:txBody>
      </p:sp>
      <p:sp>
        <p:nvSpPr>
          <p:cNvPr id="1033" name="Genesis text 1033"/>
          <p:cNvSpPr txBox="1"/>
          <p:nvPr/>
        </p:nvSpPr>
        <p:spPr>
          <a:xfrm>
            <a:off x="400050" y="4524375"/>
            <a:ext cx="8286750" cy="2190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050" b="0" dirty="0">
                <a:solidFill>
                  <a:srgbClr val="52627B"/>
                </a:solidFill>
                <a:latin typeface="Arial"/>
              </a:rPr>
              <a:t>Cloud deployment design in code; earlier private staging exists, newest local source is not deployed.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enesis text 1000"/>
          <p:cNvSpPr txBox="1"/>
          <p:nvPr/>
        </p:nvSpPr>
        <p:spPr>
          <a:xfrm>
            <a:off x="304800" y="742950"/>
            <a:ext cx="8524875" cy="4286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2025" b="1" dirty="0">
                <a:solidFill>
                  <a:srgbClr val="17243B"/>
                </a:solidFill>
                <a:latin typeface="Arial"/>
              </a:rPr>
              <a:t>Technologies used in the solution</a:t>
            </a:r>
          </a:p>
        </p:txBody>
      </p:sp>
      <p:sp>
        <p:nvSpPr>
          <p:cNvPr id="1001" name="Genesis text 1001"/>
          <p:cNvSpPr txBox="1"/>
          <p:nvPr/>
        </p:nvSpPr>
        <p:spPr>
          <a:xfrm>
            <a:off x="323850" y="4810125"/>
            <a:ext cx="8096250" cy="1809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825" b="0" dirty="0">
                <a:solidFill>
                  <a:srgbClr val="52627B"/>
                </a:solidFill>
                <a:latin typeface="Arial"/>
              </a:rPr>
              <a:t>AML Insight / Genesis  |  Repository evidence, 18 October 2026</a:t>
            </a:r>
          </a:p>
        </p:txBody>
      </p:sp>
      <p:sp>
        <p:nvSpPr>
          <p:cNvPr id="1002" name="Genesis text 1002"/>
          <p:cNvSpPr txBox="1"/>
          <p:nvPr/>
        </p:nvSpPr>
        <p:spPr>
          <a:xfrm>
            <a:off x="8429625" y="4810125"/>
            <a:ext cx="400050" cy="1809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r" marL="0" indent="0">
              <a:lnSpc>
                <a:spcPct val="116000"/>
              </a:lnSpc>
              <a:buNone/>
            </a:pPr>
            <a:r>
              <a:rPr lang="en-AU" sz="825" b="0" dirty="0">
                <a:solidFill>
                  <a:srgbClr val="52627B"/>
                </a:solidFill>
                <a:latin typeface="Arial"/>
              </a:rPr>
              <a:t>09</a:t>
            </a:r>
          </a:p>
        </p:txBody>
      </p:sp>
      <p:sp>
        <p:nvSpPr>
          <p:cNvPr id="1003" name="Genesis rect 1003"/>
          <p:cNvSpPr/>
          <p:nvPr/>
        </p:nvSpPr>
        <p:spPr>
          <a:xfrm>
            <a:off x="381000" y="1333500"/>
            <a:ext cx="4114800" cy="981075"/>
          </a:xfrm>
          <a:prstGeom prst="rect">
            <a:avLst/>
          </a:prstGeom>
          <a:solidFill>
            <a:srgbClr val="F0F3FA"/>
          </a:solidFill>
          <a:ln w="9525">
            <a:noFill/>
          </a:ln>
        </p:spPr>
      </p:sp>
      <p:sp>
        <p:nvSpPr>
          <p:cNvPr id="1004" name="Genesis rect 1004"/>
          <p:cNvSpPr/>
          <p:nvPr/>
        </p:nvSpPr>
        <p:spPr>
          <a:xfrm>
            <a:off x="381000" y="1333500"/>
            <a:ext cx="38100" cy="981075"/>
          </a:xfrm>
          <a:prstGeom prst="rect">
            <a:avLst/>
          </a:prstGeom>
          <a:solidFill>
            <a:srgbClr val="315DEA"/>
          </a:solidFill>
          <a:ln w="9525">
            <a:noFill/>
          </a:ln>
        </p:spPr>
      </p:sp>
      <p:sp>
        <p:nvSpPr>
          <p:cNvPr id="1005" name="Genesis text 1005"/>
          <p:cNvSpPr txBox="1"/>
          <p:nvPr/>
        </p:nvSpPr>
        <p:spPr>
          <a:xfrm>
            <a:off x="533400" y="1457325"/>
            <a:ext cx="3829050" cy="2571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425" b="1" dirty="0">
                <a:solidFill>
                  <a:srgbClr val="315DEA"/>
                </a:solidFill>
                <a:latin typeface="Arial"/>
              </a:rPr>
              <a:t>Frontend</a:t>
            </a:r>
          </a:p>
        </p:txBody>
      </p:sp>
      <p:sp>
        <p:nvSpPr>
          <p:cNvPr id="1006" name="Genesis text 1006"/>
          <p:cNvSpPr txBox="1"/>
          <p:nvPr/>
        </p:nvSpPr>
        <p:spPr>
          <a:xfrm>
            <a:off x="533400" y="1771650"/>
            <a:ext cx="3829050" cy="4762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125" b="0" dirty="0">
                <a:solidFill>
                  <a:srgbClr val="17243B"/>
                </a:solidFill>
                <a:latin typeface="Arial"/>
              </a:rPr>
              <a:t>React 19, TypeScript, Vite; Firebase web SDK; accessible native dialogs.</a:t>
            </a:r>
          </a:p>
        </p:txBody>
      </p:sp>
      <p:sp>
        <p:nvSpPr>
          <p:cNvPr id="1007" name="Genesis rect 1007"/>
          <p:cNvSpPr/>
          <p:nvPr/>
        </p:nvSpPr>
        <p:spPr>
          <a:xfrm>
            <a:off x="4648200" y="1333500"/>
            <a:ext cx="4114800" cy="981075"/>
          </a:xfrm>
          <a:prstGeom prst="rect">
            <a:avLst/>
          </a:prstGeom>
          <a:solidFill>
            <a:srgbClr val="F0F3FA"/>
          </a:solidFill>
          <a:ln w="9525">
            <a:noFill/>
          </a:ln>
        </p:spPr>
      </p:sp>
      <p:sp>
        <p:nvSpPr>
          <p:cNvPr id="1008" name="Genesis rect 1008"/>
          <p:cNvSpPr/>
          <p:nvPr/>
        </p:nvSpPr>
        <p:spPr>
          <a:xfrm>
            <a:off x="4648200" y="1333500"/>
            <a:ext cx="38100" cy="981075"/>
          </a:xfrm>
          <a:prstGeom prst="rect">
            <a:avLst/>
          </a:prstGeom>
          <a:solidFill>
            <a:srgbClr val="315DEA"/>
          </a:solidFill>
          <a:ln w="9525">
            <a:noFill/>
          </a:ln>
        </p:spPr>
      </p:sp>
      <p:sp>
        <p:nvSpPr>
          <p:cNvPr id="1009" name="Genesis text 1009"/>
          <p:cNvSpPr txBox="1"/>
          <p:nvPr/>
        </p:nvSpPr>
        <p:spPr>
          <a:xfrm>
            <a:off x="4800600" y="1457325"/>
            <a:ext cx="3829050" cy="2571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425" b="1" dirty="0">
                <a:solidFill>
                  <a:srgbClr val="315DEA"/>
                </a:solidFill>
                <a:latin typeface="Arial"/>
              </a:rPr>
              <a:t>Backend</a:t>
            </a:r>
          </a:p>
        </p:txBody>
      </p:sp>
      <p:sp>
        <p:nvSpPr>
          <p:cNvPr id="1010" name="Genesis text 1010"/>
          <p:cNvSpPr txBox="1"/>
          <p:nvPr/>
        </p:nvSpPr>
        <p:spPr>
          <a:xfrm>
            <a:off x="4800600" y="1771650"/>
            <a:ext cx="3829050" cy="4762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125" b="0" dirty="0">
                <a:solidFill>
                  <a:srgbClr val="17243B"/>
                </a:solidFill>
                <a:latin typeface="Arial"/>
              </a:rPr>
              <a:t>Python 3.12, FastAPI, Uvicorn and Pydantic; deterministic detection/scoring.</a:t>
            </a:r>
          </a:p>
        </p:txBody>
      </p:sp>
      <p:sp>
        <p:nvSpPr>
          <p:cNvPr id="1011" name="Genesis rect 1011"/>
          <p:cNvSpPr/>
          <p:nvPr/>
        </p:nvSpPr>
        <p:spPr>
          <a:xfrm>
            <a:off x="381000" y="2428875"/>
            <a:ext cx="4114800" cy="981075"/>
          </a:xfrm>
          <a:prstGeom prst="rect">
            <a:avLst/>
          </a:prstGeom>
          <a:solidFill>
            <a:srgbClr val="F0F3FA"/>
          </a:solidFill>
          <a:ln w="9525">
            <a:noFill/>
          </a:ln>
        </p:spPr>
      </p:sp>
      <p:sp>
        <p:nvSpPr>
          <p:cNvPr id="1012" name="Genesis rect 1012"/>
          <p:cNvSpPr/>
          <p:nvPr/>
        </p:nvSpPr>
        <p:spPr>
          <a:xfrm>
            <a:off x="381000" y="2428875"/>
            <a:ext cx="38100" cy="981075"/>
          </a:xfrm>
          <a:prstGeom prst="rect">
            <a:avLst/>
          </a:prstGeom>
          <a:solidFill>
            <a:srgbClr val="315DEA"/>
          </a:solidFill>
          <a:ln w="9525">
            <a:noFill/>
          </a:ln>
        </p:spPr>
      </p:sp>
      <p:sp>
        <p:nvSpPr>
          <p:cNvPr id="1013" name="Genesis text 1013"/>
          <p:cNvSpPr txBox="1"/>
          <p:nvPr/>
        </p:nvSpPr>
        <p:spPr>
          <a:xfrm>
            <a:off x="533400" y="2552700"/>
            <a:ext cx="3829050" cy="2571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425" b="1" dirty="0">
                <a:solidFill>
                  <a:srgbClr val="315DEA"/>
                </a:solidFill>
                <a:latin typeface="Arial"/>
              </a:rPr>
              <a:t>Google AI</a:t>
            </a:r>
          </a:p>
        </p:txBody>
      </p:sp>
      <p:sp>
        <p:nvSpPr>
          <p:cNvPr id="1014" name="Genesis text 1014"/>
          <p:cNvSpPr txBox="1"/>
          <p:nvPr/>
        </p:nvSpPr>
        <p:spPr>
          <a:xfrm>
            <a:off x="533400" y="2867025"/>
            <a:ext cx="3829050" cy="4762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125" b="0" dirty="0">
                <a:solidFill>
                  <a:srgbClr val="17243B"/>
                </a:solidFill>
                <a:latin typeface="Arial"/>
              </a:rPr>
              <a:t>google-genai SDK; structured Gemini JSON, citations, per-leg model profiles and token budgets.</a:t>
            </a:r>
          </a:p>
        </p:txBody>
      </p:sp>
      <p:sp>
        <p:nvSpPr>
          <p:cNvPr id="1015" name="Genesis rect 1015"/>
          <p:cNvSpPr/>
          <p:nvPr/>
        </p:nvSpPr>
        <p:spPr>
          <a:xfrm>
            <a:off x="4648200" y="2428875"/>
            <a:ext cx="4114800" cy="981075"/>
          </a:xfrm>
          <a:prstGeom prst="rect">
            <a:avLst/>
          </a:prstGeom>
          <a:solidFill>
            <a:srgbClr val="F0F3FA"/>
          </a:solidFill>
          <a:ln w="9525">
            <a:noFill/>
          </a:ln>
        </p:spPr>
      </p:sp>
      <p:sp>
        <p:nvSpPr>
          <p:cNvPr id="1016" name="Genesis rect 1016"/>
          <p:cNvSpPr/>
          <p:nvPr/>
        </p:nvSpPr>
        <p:spPr>
          <a:xfrm>
            <a:off x="4648200" y="2428875"/>
            <a:ext cx="38100" cy="981075"/>
          </a:xfrm>
          <a:prstGeom prst="rect">
            <a:avLst/>
          </a:prstGeom>
          <a:solidFill>
            <a:srgbClr val="315DEA"/>
          </a:solidFill>
          <a:ln w="9525">
            <a:noFill/>
          </a:ln>
        </p:spPr>
      </p:sp>
      <p:sp>
        <p:nvSpPr>
          <p:cNvPr id="1017" name="Genesis text 1017"/>
          <p:cNvSpPr txBox="1"/>
          <p:nvPr/>
        </p:nvSpPr>
        <p:spPr>
          <a:xfrm>
            <a:off x="4800600" y="2552700"/>
            <a:ext cx="3829050" cy="2571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425" b="1" dirty="0">
                <a:solidFill>
                  <a:srgbClr val="315DEA"/>
                </a:solidFill>
                <a:latin typeface="Arial"/>
              </a:rPr>
              <a:t>Data / identity</a:t>
            </a:r>
          </a:p>
        </p:txBody>
      </p:sp>
      <p:sp>
        <p:nvSpPr>
          <p:cNvPr id="1018" name="Genesis text 1018"/>
          <p:cNvSpPr txBox="1"/>
          <p:nvPr/>
        </p:nvSpPr>
        <p:spPr>
          <a:xfrm>
            <a:off x="4800600" y="2867025"/>
            <a:ext cx="3829050" cy="4762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125" b="0" dirty="0">
                <a:solidFill>
                  <a:srgbClr val="17243B"/>
                </a:solidFill>
                <a:latin typeface="Arial"/>
              </a:rPr>
              <a:t>Firestore, Firebase Authentication; emulator-backed local development.</a:t>
            </a:r>
          </a:p>
        </p:txBody>
      </p:sp>
      <p:sp>
        <p:nvSpPr>
          <p:cNvPr id="1019" name="Genesis rect 1019"/>
          <p:cNvSpPr/>
          <p:nvPr/>
        </p:nvSpPr>
        <p:spPr>
          <a:xfrm>
            <a:off x="381000" y="3524250"/>
            <a:ext cx="4114800" cy="981075"/>
          </a:xfrm>
          <a:prstGeom prst="rect">
            <a:avLst/>
          </a:prstGeom>
          <a:solidFill>
            <a:srgbClr val="F0F3FA"/>
          </a:solidFill>
          <a:ln w="9525">
            <a:noFill/>
          </a:ln>
        </p:spPr>
      </p:sp>
      <p:sp>
        <p:nvSpPr>
          <p:cNvPr id="1020" name="Genesis rect 1020"/>
          <p:cNvSpPr/>
          <p:nvPr/>
        </p:nvSpPr>
        <p:spPr>
          <a:xfrm>
            <a:off x="381000" y="3524250"/>
            <a:ext cx="38100" cy="981075"/>
          </a:xfrm>
          <a:prstGeom prst="rect">
            <a:avLst/>
          </a:prstGeom>
          <a:solidFill>
            <a:srgbClr val="315DEA"/>
          </a:solidFill>
          <a:ln w="9525">
            <a:noFill/>
          </a:ln>
        </p:spPr>
      </p:sp>
      <p:sp>
        <p:nvSpPr>
          <p:cNvPr id="1021" name="Genesis text 1021"/>
          <p:cNvSpPr txBox="1"/>
          <p:nvPr/>
        </p:nvSpPr>
        <p:spPr>
          <a:xfrm>
            <a:off x="533400" y="3648075"/>
            <a:ext cx="3829050" cy="2571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425" b="1" dirty="0">
                <a:solidFill>
                  <a:srgbClr val="315DEA"/>
                </a:solidFill>
                <a:latin typeface="Arial"/>
              </a:rPr>
              <a:t>Deployment</a:t>
            </a:r>
          </a:p>
        </p:txBody>
      </p:sp>
      <p:sp>
        <p:nvSpPr>
          <p:cNvPr id="1022" name="Genesis text 1022"/>
          <p:cNvSpPr txBox="1"/>
          <p:nvPr/>
        </p:nvSpPr>
        <p:spPr>
          <a:xfrm>
            <a:off x="533400" y="3962400"/>
            <a:ext cx="3829050" cy="4762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125" b="0" dirty="0">
                <a:solidFill>
                  <a:srgbClr val="17243B"/>
                </a:solidFill>
                <a:latin typeface="Arial"/>
              </a:rPr>
              <a:t>Cloud Run web + worker; Cloud Tasks; Artifact Registry; Cloud Build; Secret Manager / ADC.</a:t>
            </a:r>
          </a:p>
        </p:txBody>
      </p:sp>
      <p:sp>
        <p:nvSpPr>
          <p:cNvPr id="1023" name="Genesis rect 1023"/>
          <p:cNvSpPr/>
          <p:nvPr/>
        </p:nvSpPr>
        <p:spPr>
          <a:xfrm>
            <a:off x="4648200" y="3524250"/>
            <a:ext cx="4114800" cy="981075"/>
          </a:xfrm>
          <a:prstGeom prst="rect">
            <a:avLst/>
          </a:prstGeom>
          <a:solidFill>
            <a:srgbClr val="F0F3FA"/>
          </a:solidFill>
          <a:ln w="9525">
            <a:noFill/>
          </a:ln>
        </p:spPr>
      </p:sp>
      <p:sp>
        <p:nvSpPr>
          <p:cNvPr id="1024" name="Genesis rect 1024"/>
          <p:cNvSpPr/>
          <p:nvPr/>
        </p:nvSpPr>
        <p:spPr>
          <a:xfrm>
            <a:off x="4648200" y="3524250"/>
            <a:ext cx="38100" cy="981075"/>
          </a:xfrm>
          <a:prstGeom prst="rect">
            <a:avLst/>
          </a:prstGeom>
          <a:solidFill>
            <a:srgbClr val="315DEA"/>
          </a:solidFill>
          <a:ln w="9525">
            <a:noFill/>
          </a:ln>
        </p:spPr>
      </p:sp>
      <p:sp>
        <p:nvSpPr>
          <p:cNvPr id="1025" name="Genesis text 1025"/>
          <p:cNvSpPr txBox="1"/>
          <p:nvPr/>
        </p:nvSpPr>
        <p:spPr>
          <a:xfrm>
            <a:off x="4800600" y="3648075"/>
            <a:ext cx="3829050" cy="2571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425" b="1" dirty="0">
                <a:solidFill>
                  <a:srgbClr val="315DEA"/>
                </a:solidFill>
                <a:latin typeface="Arial"/>
              </a:rPr>
              <a:t>Verification</a:t>
            </a:r>
          </a:p>
        </p:txBody>
      </p:sp>
      <p:sp>
        <p:nvSpPr>
          <p:cNvPr id="1026" name="Genesis text 1026"/>
          <p:cNvSpPr txBox="1"/>
          <p:nvPr/>
        </p:nvSpPr>
        <p:spPr>
          <a:xfrm>
            <a:off x="4800600" y="3962400"/>
            <a:ext cx="3829050" cy="4762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125" b="0" dirty="0">
                <a:solidFill>
                  <a:srgbClr val="17243B"/>
                </a:solidFill>
                <a:latin typeface="Arial"/>
              </a:rPr>
              <a:t>pytest, Firebase emulator integration tests, TypeScript checks and Playwright browser journeys.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enesis text 1000"/>
          <p:cNvSpPr txBox="1"/>
          <p:nvPr/>
        </p:nvSpPr>
        <p:spPr>
          <a:xfrm>
            <a:off x="304800" y="742950"/>
            <a:ext cx="8524875" cy="4286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2025" b="1" dirty="0">
                <a:solidFill>
                  <a:srgbClr val="17243B"/>
                </a:solidFill>
                <a:latin typeface="Arial"/>
              </a:rPr>
              <a:t>Estimated implementation cost</a:t>
            </a:r>
          </a:p>
        </p:txBody>
      </p:sp>
      <p:sp>
        <p:nvSpPr>
          <p:cNvPr id="1001" name="Genesis text 1001"/>
          <p:cNvSpPr txBox="1"/>
          <p:nvPr/>
        </p:nvSpPr>
        <p:spPr>
          <a:xfrm>
            <a:off x="323850" y="4810125"/>
            <a:ext cx="8096250" cy="1809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825" b="0" dirty="0">
                <a:solidFill>
                  <a:srgbClr val="52627B"/>
                </a:solidFill>
                <a:latin typeface="Arial"/>
              </a:rPr>
              <a:t>AML Insight / Genesis  |  Repository evidence, 18 October 2026</a:t>
            </a:r>
          </a:p>
        </p:txBody>
      </p:sp>
      <p:sp>
        <p:nvSpPr>
          <p:cNvPr id="1002" name="Genesis text 1002"/>
          <p:cNvSpPr txBox="1"/>
          <p:nvPr/>
        </p:nvSpPr>
        <p:spPr>
          <a:xfrm>
            <a:off x="8429625" y="4810125"/>
            <a:ext cx="400050" cy="1809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r" marL="0" indent="0">
              <a:lnSpc>
                <a:spcPct val="116000"/>
              </a:lnSpc>
              <a:buNone/>
            </a:pPr>
            <a:r>
              <a:rPr lang="en-AU" sz="825" b="0" dirty="0">
                <a:solidFill>
                  <a:srgbClr val="52627B"/>
                </a:solidFill>
                <a:latin typeface="Arial"/>
              </a:rPr>
              <a:t>10</a:t>
            </a:r>
          </a:p>
        </p:txBody>
      </p:sp>
      <p:sp>
        <p:nvSpPr>
          <p:cNvPr id="1003" name="Genesis rect 1003"/>
          <p:cNvSpPr/>
          <p:nvPr/>
        </p:nvSpPr>
        <p:spPr>
          <a:xfrm>
            <a:off x="381000" y="1362075"/>
            <a:ext cx="4095750" cy="1543050"/>
          </a:xfrm>
          <a:prstGeom prst="rect">
            <a:avLst/>
          </a:prstGeom>
          <a:solidFill>
            <a:srgbClr val="F0F3FA"/>
          </a:solidFill>
          <a:ln w="9525">
            <a:noFill/>
          </a:ln>
        </p:spPr>
      </p:sp>
      <p:sp>
        <p:nvSpPr>
          <p:cNvPr id="1004" name="Genesis rect 1004"/>
          <p:cNvSpPr/>
          <p:nvPr/>
        </p:nvSpPr>
        <p:spPr>
          <a:xfrm>
            <a:off x="381000" y="1362075"/>
            <a:ext cx="38100" cy="1543050"/>
          </a:xfrm>
          <a:prstGeom prst="rect">
            <a:avLst/>
          </a:prstGeom>
          <a:solidFill>
            <a:srgbClr val="315DEA"/>
          </a:solidFill>
          <a:ln w="9525">
            <a:noFill/>
          </a:ln>
        </p:spPr>
      </p:sp>
      <p:sp>
        <p:nvSpPr>
          <p:cNvPr id="1005" name="Genesis text 1005"/>
          <p:cNvSpPr txBox="1"/>
          <p:nvPr/>
        </p:nvSpPr>
        <p:spPr>
          <a:xfrm>
            <a:off x="533400" y="1485900"/>
            <a:ext cx="3810000" cy="2571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425" b="1" dirty="0">
                <a:solidFill>
                  <a:srgbClr val="315DEA"/>
                </a:solidFill>
                <a:latin typeface="Arial"/>
              </a:rPr>
              <a:t>What the repository records</a:t>
            </a:r>
          </a:p>
        </p:txBody>
      </p:sp>
      <p:sp>
        <p:nvSpPr>
          <p:cNvPr id="1006" name="Genesis text 1006"/>
          <p:cNvSpPr txBox="1"/>
          <p:nvPr/>
        </p:nvSpPr>
        <p:spPr>
          <a:xfrm>
            <a:off x="533400" y="1800225"/>
            <a:ext cx="3810000" cy="10382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275" b="0" dirty="0">
                <a:solidFill>
                  <a:srgbClr val="17243B"/>
                </a:solidFill>
                <a:latin typeface="Arial"/>
              </a:rPr>
              <a:t>Earlier build: 118.60 seconds; recorded compute list-rate estimate US$0.01186, before free allowances.</a:t>
            </a:r>
          </a:p>
          <a:p>
            <a:pPr algn="l" marL="0" indent="0">
              <a:lnSpc>
                <a:spcPct val="116000"/>
              </a:lnSpc>
              <a:buNone/>
            </a:pPr>
            <a:r>
              <a:rPr lang="en-AU" sz="1275" b="0" dirty="0">
                <a:solidFill>
                  <a:srgbClr val="17243B"/>
                </a:solidFill>
                <a:latin typeface="Arial"/>
              </a:rPr>
              <a:t>Not an invoice or a complete project cost.</a:t>
            </a:r>
          </a:p>
        </p:txBody>
      </p:sp>
      <p:sp>
        <p:nvSpPr>
          <p:cNvPr id="1007" name="Genesis rect 1007"/>
          <p:cNvSpPr/>
          <p:nvPr/>
        </p:nvSpPr>
        <p:spPr>
          <a:xfrm>
            <a:off x="4667250" y="1362075"/>
            <a:ext cx="4038600" cy="1543050"/>
          </a:xfrm>
          <a:prstGeom prst="rect">
            <a:avLst/>
          </a:prstGeom>
          <a:solidFill>
            <a:srgbClr val="F0F3FA"/>
          </a:solidFill>
          <a:ln w="9525">
            <a:noFill/>
          </a:ln>
        </p:spPr>
      </p:sp>
      <p:sp>
        <p:nvSpPr>
          <p:cNvPr id="1008" name="Genesis rect 1008"/>
          <p:cNvSpPr/>
          <p:nvPr/>
        </p:nvSpPr>
        <p:spPr>
          <a:xfrm>
            <a:off x="4667250" y="1362075"/>
            <a:ext cx="38100" cy="1543050"/>
          </a:xfrm>
          <a:prstGeom prst="rect">
            <a:avLst/>
          </a:prstGeom>
          <a:solidFill>
            <a:srgbClr val="087F72"/>
          </a:solidFill>
          <a:ln w="9525">
            <a:noFill/>
          </a:ln>
        </p:spPr>
      </p:sp>
      <p:sp>
        <p:nvSpPr>
          <p:cNvPr id="1009" name="Genesis text 1009"/>
          <p:cNvSpPr txBox="1"/>
          <p:nvPr/>
        </p:nvSpPr>
        <p:spPr>
          <a:xfrm>
            <a:off x="4819650" y="1485900"/>
            <a:ext cx="3752850" cy="2571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425" b="1" dirty="0">
                <a:solidFill>
                  <a:srgbClr val="087F72"/>
                </a:solidFill>
                <a:latin typeface="Arial"/>
              </a:rPr>
              <a:t>What is not established</a:t>
            </a:r>
          </a:p>
        </p:txBody>
      </p:sp>
      <p:sp>
        <p:nvSpPr>
          <p:cNvPr id="1010" name="Genesis text 1010"/>
          <p:cNvSpPr txBox="1"/>
          <p:nvPr/>
        </p:nvSpPr>
        <p:spPr>
          <a:xfrm>
            <a:off x="4819650" y="1800225"/>
            <a:ext cx="3752850" cy="10382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275" b="0" dirty="0">
                <a:solidFill>
                  <a:srgbClr val="17243B"/>
                </a:solidFill>
                <a:latin typeface="Arial"/>
              </a:rPr>
              <a:t>No labor-cost estimate or final monthly bill is recorded. Model cost remains UNKNOWN unless a matching verified rate card and usage are available.</a:t>
            </a:r>
          </a:p>
        </p:txBody>
      </p:sp>
      <p:sp>
        <p:nvSpPr>
          <p:cNvPr id="1011" name="Genesis text 1011"/>
          <p:cNvSpPr txBox="1"/>
          <p:nvPr/>
        </p:nvSpPr>
        <p:spPr>
          <a:xfrm>
            <a:off x="428625" y="3114675"/>
            <a:ext cx="8191500" cy="2571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425" b="1" dirty="0">
                <a:solidFill>
                  <a:srgbClr val="315DEA"/>
                </a:solidFill>
                <a:latin typeface="Arial"/>
              </a:rPr>
              <a:t>Configured token ceilings per investigation (before retries)</a:t>
            </a:r>
          </a:p>
        </p:txBody>
      </p:sp>
      <p:sp>
        <p:nvSpPr>
          <p:cNvPr id="1012" name="Genesis text 1012"/>
          <p:cNvSpPr txBox="1"/>
          <p:nvPr/>
        </p:nvSpPr>
        <p:spPr>
          <a:xfrm>
            <a:off x="457200" y="3514725"/>
            <a:ext cx="8191500" cy="5905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275" b="0" dirty="0">
                <a:solidFill>
                  <a:srgbClr val="17243B"/>
                </a:solidFill>
                <a:latin typeface="Arial"/>
              </a:rPr>
              <a:t>A2: 4,096 input / 1,536 generated   •   A3: 2,048 / 768   •   A4: 4,096 / 2,048</a:t>
            </a:r>
          </a:p>
          <a:p>
            <a:pPr algn="l" marL="0" indent="0">
              <a:lnSpc>
                <a:spcPct val="116000"/>
              </a:lnSpc>
              <a:buNone/>
            </a:pPr>
            <a:r>
              <a:rPr lang="en-AU" sz="1275" b="0" dirty="0">
                <a:solidFill>
                  <a:srgbClr val="17243B"/>
                </a:solidFill>
                <a:latin typeface="Arial"/>
              </a:rPr>
              <a:t>Total A2–A4: 10,240 input / 4,352 generated. A5 is separate: 8,192 / 3,072.</a:t>
            </a:r>
          </a:p>
        </p:txBody>
      </p:sp>
      <p:sp>
        <p:nvSpPr>
          <p:cNvPr id="1013" name="Genesis text 1013"/>
          <p:cNvSpPr txBox="1"/>
          <p:nvPr/>
        </p:nvSpPr>
        <p:spPr>
          <a:xfrm>
            <a:off x="428625" y="4276725"/>
            <a:ext cx="8248650" cy="4191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125" b="0" dirty="0">
                <a:solidFill>
                  <a:srgbClr val="52627B"/>
                </a:solidFill>
                <a:latin typeface="Arial"/>
              </a:rPr>
              <a:t>Controls: scale 0–1 in recorded staging, daily attempt controls and paused dispatch.</a:t>
            </a:r>
          </a:p>
          <a:p>
            <a:pPr algn="l" marL="0" indent="0">
              <a:lnSpc>
                <a:spcPct val="116000"/>
              </a:lnSpc>
              <a:buNone/>
            </a:pPr>
            <a:r>
              <a:rPr lang="en-AU" sz="1125" b="0" dirty="0">
                <a:solidFill>
                  <a:srgbClr val="52627B"/>
                </a:solidFill>
                <a:latin typeface="Arial"/>
              </a:rPr>
              <a:t>The recorded AUD 6 alerts-only budget is not a spending cap; storage/network/build costs are separate.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enesis text 1000"/>
          <p:cNvSpPr txBox="1"/>
          <p:nvPr/>
        </p:nvSpPr>
        <p:spPr>
          <a:xfrm>
            <a:off x="304800" y="742950"/>
            <a:ext cx="8524875" cy="4286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2025" b="1" dirty="0">
                <a:solidFill>
                  <a:srgbClr val="17243B"/>
                </a:solidFill>
                <a:latin typeface="Arial"/>
              </a:rPr>
              <a:t>Snapshots of the prototype</a:t>
            </a:r>
          </a:p>
        </p:txBody>
      </p:sp>
      <p:sp>
        <p:nvSpPr>
          <p:cNvPr id="1001" name="Genesis text 1001"/>
          <p:cNvSpPr txBox="1"/>
          <p:nvPr/>
        </p:nvSpPr>
        <p:spPr>
          <a:xfrm>
            <a:off x="323850" y="4810125"/>
            <a:ext cx="8096250" cy="1809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825" b="0" dirty="0">
                <a:solidFill>
                  <a:srgbClr val="52627B"/>
                </a:solidFill>
                <a:latin typeface="Arial"/>
              </a:rPr>
              <a:t>AML Insight / Genesis  |  Repository evidence, 18 October 2026</a:t>
            </a:r>
          </a:p>
        </p:txBody>
      </p:sp>
      <p:sp>
        <p:nvSpPr>
          <p:cNvPr id="1002" name="Genesis text 1002"/>
          <p:cNvSpPr txBox="1"/>
          <p:nvPr/>
        </p:nvSpPr>
        <p:spPr>
          <a:xfrm>
            <a:off x="8429625" y="4810125"/>
            <a:ext cx="400050" cy="1809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r" marL="0" indent="0">
              <a:lnSpc>
                <a:spcPct val="116000"/>
              </a:lnSpc>
              <a:buNone/>
            </a:pPr>
            <a:r>
              <a:rPr lang="en-AU" sz="825" b="0" dirty="0">
                <a:solidFill>
                  <a:srgbClr val="52627B"/>
                </a:solidFill>
                <a:latin typeface="Arial"/>
              </a:rPr>
              <a:t>11</a:t>
            </a:r>
          </a:p>
        </p:txBody>
      </p:sp>
      <p:pic>
        <p:nvPicPr>
          <p:cNvPr id="1003" name="investigations" descr="Actual local prototype screenshot; synthetic data."/>
          <p:cNvPicPr/>
          <p:nvPr/>
        </p:nvPicPr>
        <p:blipFill>
          <a:blip r:embed="rIdGenesis1003"/>
          <a:stretch>
            <a:fillRect/>
          </a:stretch>
        </p:blipFill>
        <p:spPr>
          <a:xfrm>
            <a:off x="727329" y="1352550"/>
            <a:ext cx="4622292" cy="3209925"/>
          </a:xfrm>
          <a:prstGeom prst="rect">
            <a:avLst/>
          </a:prstGeom>
        </p:spPr>
      </p:pic>
      <p:pic>
        <p:nvPicPr>
          <p:cNvPr id="1004" name="case-details" descr="Actual local prototype screenshot; synthetic data."/>
          <p:cNvPicPr/>
          <p:nvPr/>
        </p:nvPicPr>
        <p:blipFill>
          <a:blip r:embed="rIdGenesis1004"/>
          <a:stretch>
            <a:fillRect/>
          </a:stretch>
        </p:blipFill>
        <p:spPr>
          <a:xfrm>
            <a:off x="6215124" y="1381125"/>
            <a:ext cx="2219201" cy="2847975"/>
          </a:xfrm>
          <a:prstGeom prst="rect">
            <a:avLst/>
          </a:prstGeom>
        </p:spPr>
      </p:pic>
      <p:sp>
        <p:nvSpPr>
          <p:cNvPr id="1005" name="Genesis text 1005"/>
          <p:cNvSpPr txBox="1"/>
          <p:nvPr/>
        </p:nvSpPr>
        <p:spPr>
          <a:xfrm>
            <a:off x="409575" y="4552950"/>
            <a:ext cx="5238750" cy="1905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050" b="0" dirty="0">
                <a:solidFill>
                  <a:srgbClr val="52627B"/>
                </a:solidFill>
                <a:latin typeface="Arial"/>
              </a:rPr>
              <a:t>Actual local queue: 3,000 cases / 200 identities.</a:t>
            </a:r>
          </a:p>
        </p:txBody>
      </p:sp>
      <p:sp>
        <p:nvSpPr>
          <p:cNvPr id="1006" name="Genesis text 1006"/>
          <p:cNvSpPr txBox="1"/>
          <p:nvPr/>
        </p:nvSpPr>
        <p:spPr>
          <a:xfrm>
            <a:off x="5924550" y="4314825"/>
            <a:ext cx="2781300" cy="4000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050" b="0" dirty="0">
                <a:solidFill>
                  <a:srgbClr val="52627B"/>
                </a:solidFill>
                <a:latin typeface="Arial"/>
              </a:rPr>
              <a:t>Actual case-details dialog.</a:t>
            </a:r>
          </a:p>
          <a:p>
            <a:pPr algn="l" marL="0" indent="0">
              <a:lnSpc>
                <a:spcPct val="116000"/>
              </a:lnSpc>
              <a:buNone/>
            </a:pPr>
            <a:r>
              <a:rPr lang="en-AU" sz="1050" b="0" dirty="0">
                <a:solidFill>
                  <a:srgbClr val="52627B"/>
                </a:solidFill>
                <a:latin typeface="Arial"/>
              </a:rPr>
              <a:t>Synthetic customer data only.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enesis text 1000"/>
          <p:cNvSpPr txBox="1"/>
          <p:nvPr/>
        </p:nvSpPr>
        <p:spPr>
          <a:xfrm>
            <a:off x="304800" y="742950"/>
            <a:ext cx="8524875" cy="4286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2025" b="1" dirty="0">
                <a:solidFill>
                  <a:srgbClr val="17243B"/>
                </a:solidFill>
                <a:latin typeface="Arial"/>
              </a:rPr>
              <a:t>Prototype performance / benchmarking</a:t>
            </a:r>
          </a:p>
        </p:txBody>
      </p:sp>
      <p:sp>
        <p:nvSpPr>
          <p:cNvPr id="1001" name="Genesis text 1001"/>
          <p:cNvSpPr txBox="1"/>
          <p:nvPr/>
        </p:nvSpPr>
        <p:spPr>
          <a:xfrm>
            <a:off x="323850" y="4810125"/>
            <a:ext cx="8096250" cy="1809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825" b="0" dirty="0">
                <a:solidFill>
                  <a:srgbClr val="52627B"/>
                </a:solidFill>
                <a:latin typeface="Arial"/>
              </a:rPr>
              <a:t>AML Insight / Genesis  |  Repository evidence, 18 October 2026</a:t>
            </a:r>
          </a:p>
        </p:txBody>
      </p:sp>
      <p:sp>
        <p:nvSpPr>
          <p:cNvPr id="1002" name="Genesis text 1002"/>
          <p:cNvSpPr txBox="1"/>
          <p:nvPr/>
        </p:nvSpPr>
        <p:spPr>
          <a:xfrm>
            <a:off x="8429625" y="4810125"/>
            <a:ext cx="400050" cy="1809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r" marL="0" indent="0">
              <a:lnSpc>
                <a:spcPct val="116000"/>
              </a:lnSpc>
              <a:buNone/>
            </a:pPr>
            <a:r>
              <a:rPr lang="en-AU" sz="825" b="0" dirty="0">
                <a:solidFill>
                  <a:srgbClr val="52627B"/>
                </a:solidFill>
                <a:latin typeface="Arial"/>
              </a:rPr>
              <a:t>12</a:t>
            </a:r>
          </a:p>
        </p:txBody>
      </p:sp>
      <p:sp>
        <p:nvSpPr>
          <p:cNvPr id="1003" name="Genesis rect 1003"/>
          <p:cNvSpPr/>
          <p:nvPr/>
        </p:nvSpPr>
        <p:spPr>
          <a:xfrm>
            <a:off x="381000" y="1352550"/>
            <a:ext cx="2647950" cy="1133475"/>
          </a:xfrm>
          <a:prstGeom prst="rect">
            <a:avLst/>
          </a:prstGeom>
          <a:solidFill>
            <a:srgbClr val="F0F3FA"/>
          </a:solidFill>
          <a:ln w="9525">
            <a:noFill/>
          </a:ln>
        </p:spPr>
      </p:sp>
      <p:sp>
        <p:nvSpPr>
          <p:cNvPr id="1004" name="Genesis text 1004"/>
          <p:cNvSpPr txBox="1"/>
          <p:nvPr/>
        </p:nvSpPr>
        <p:spPr>
          <a:xfrm>
            <a:off x="523875" y="1447800"/>
            <a:ext cx="2362200" cy="5238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3225" b="1" dirty="0">
                <a:solidFill>
                  <a:srgbClr val="315DEA"/>
                </a:solidFill>
                <a:latin typeface="Arial"/>
              </a:rPr>
              <a:t>162</a:t>
            </a:r>
          </a:p>
        </p:txBody>
      </p:sp>
      <p:sp>
        <p:nvSpPr>
          <p:cNvPr id="1005" name="Genesis text 1005"/>
          <p:cNvSpPr txBox="1"/>
          <p:nvPr/>
        </p:nvSpPr>
        <p:spPr>
          <a:xfrm>
            <a:off x="523875" y="2066925"/>
            <a:ext cx="2362200" cy="2762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275" b="0" dirty="0">
                <a:solidFill>
                  <a:srgbClr val="17243B"/>
                </a:solidFill>
                <a:latin typeface="Arial"/>
              </a:rPr>
              <a:t>unit tests passed</a:t>
            </a:r>
          </a:p>
        </p:txBody>
      </p:sp>
      <p:sp>
        <p:nvSpPr>
          <p:cNvPr id="1006" name="Genesis rect 1006"/>
          <p:cNvSpPr/>
          <p:nvPr/>
        </p:nvSpPr>
        <p:spPr>
          <a:xfrm>
            <a:off x="3219450" y="1352550"/>
            <a:ext cx="2647950" cy="1133475"/>
          </a:xfrm>
          <a:prstGeom prst="rect">
            <a:avLst/>
          </a:prstGeom>
          <a:solidFill>
            <a:srgbClr val="F0F3FA"/>
          </a:solidFill>
          <a:ln w="9525">
            <a:noFill/>
          </a:ln>
        </p:spPr>
      </p:sp>
      <p:sp>
        <p:nvSpPr>
          <p:cNvPr id="1007" name="Genesis text 1007"/>
          <p:cNvSpPr txBox="1"/>
          <p:nvPr/>
        </p:nvSpPr>
        <p:spPr>
          <a:xfrm>
            <a:off x="3362325" y="1447800"/>
            <a:ext cx="2362200" cy="5238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3225" b="1" dirty="0">
                <a:solidFill>
                  <a:srgbClr val="315DEA"/>
                </a:solidFill>
                <a:latin typeface="Arial"/>
              </a:rPr>
              <a:t>25</a:t>
            </a:r>
          </a:p>
        </p:txBody>
      </p:sp>
      <p:sp>
        <p:nvSpPr>
          <p:cNvPr id="1008" name="Genesis text 1008"/>
          <p:cNvSpPr txBox="1"/>
          <p:nvPr/>
        </p:nvSpPr>
        <p:spPr>
          <a:xfrm>
            <a:off x="3362325" y="2066925"/>
            <a:ext cx="2362200" cy="2762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275" b="0" dirty="0">
                <a:solidFill>
                  <a:srgbClr val="17243B"/>
                </a:solidFill>
                <a:latin typeface="Arial"/>
              </a:rPr>
              <a:t>emulator integrations passed</a:t>
            </a:r>
          </a:p>
        </p:txBody>
      </p:sp>
      <p:sp>
        <p:nvSpPr>
          <p:cNvPr id="1009" name="Genesis rect 1009"/>
          <p:cNvSpPr/>
          <p:nvPr/>
        </p:nvSpPr>
        <p:spPr>
          <a:xfrm>
            <a:off x="6057900" y="1352550"/>
            <a:ext cx="2647950" cy="1133475"/>
          </a:xfrm>
          <a:prstGeom prst="rect">
            <a:avLst/>
          </a:prstGeom>
          <a:solidFill>
            <a:srgbClr val="F0F3FA"/>
          </a:solidFill>
          <a:ln w="9525">
            <a:noFill/>
          </a:ln>
        </p:spPr>
      </p:sp>
      <p:sp>
        <p:nvSpPr>
          <p:cNvPr id="1010" name="Genesis text 1010"/>
          <p:cNvSpPr txBox="1"/>
          <p:nvPr/>
        </p:nvSpPr>
        <p:spPr>
          <a:xfrm>
            <a:off x="6200775" y="1447800"/>
            <a:ext cx="2362200" cy="5238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3225" b="1" dirty="0">
                <a:solidFill>
                  <a:srgbClr val="315DEA"/>
                </a:solidFill>
                <a:latin typeface="Arial"/>
              </a:rPr>
              <a:t>9</a:t>
            </a:r>
          </a:p>
        </p:txBody>
      </p:sp>
      <p:sp>
        <p:nvSpPr>
          <p:cNvPr id="1011" name="Genesis text 1011"/>
          <p:cNvSpPr txBox="1"/>
          <p:nvPr/>
        </p:nvSpPr>
        <p:spPr>
          <a:xfrm>
            <a:off x="6200775" y="2066925"/>
            <a:ext cx="2362200" cy="2762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275" b="0" dirty="0">
                <a:solidFill>
                  <a:srgbClr val="17243B"/>
                </a:solidFill>
                <a:latin typeface="Arial"/>
              </a:rPr>
              <a:t>detector rules covered</a:t>
            </a:r>
          </a:p>
        </p:txBody>
      </p:sp>
      <p:sp>
        <p:nvSpPr>
          <p:cNvPr id="1012" name="Genesis text 1012"/>
          <p:cNvSpPr txBox="1"/>
          <p:nvPr/>
        </p:nvSpPr>
        <p:spPr>
          <a:xfrm>
            <a:off x="409575" y="2647950"/>
            <a:ext cx="8286750" cy="2476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200" b="0" dirty="0">
                <a:solidFill>
                  <a:srgbClr val="52627B"/>
                </a:solidFill>
                <a:latin typeface="Arial"/>
              </a:rPr>
              <a:t>Recorded completed checkpoint: CI-012; 25 integrations, zero integration skips.</a:t>
            </a:r>
          </a:p>
        </p:txBody>
      </p:sp>
      <p:sp>
        <p:nvSpPr>
          <p:cNvPr id="1013" name="Genesis rect 1013"/>
          <p:cNvSpPr/>
          <p:nvPr/>
        </p:nvSpPr>
        <p:spPr>
          <a:xfrm>
            <a:off x="381000" y="3057525"/>
            <a:ext cx="4095750" cy="1323975"/>
          </a:xfrm>
          <a:prstGeom prst="rect">
            <a:avLst/>
          </a:prstGeom>
          <a:solidFill>
            <a:srgbClr val="F0F3FA"/>
          </a:solidFill>
          <a:ln w="9525">
            <a:noFill/>
          </a:ln>
        </p:spPr>
      </p:sp>
      <p:sp>
        <p:nvSpPr>
          <p:cNvPr id="1014" name="Genesis rect 1014"/>
          <p:cNvSpPr/>
          <p:nvPr/>
        </p:nvSpPr>
        <p:spPr>
          <a:xfrm>
            <a:off x="381000" y="3057525"/>
            <a:ext cx="38100" cy="1323975"/>
          </a:xfrm>
          <a:prstGeom prst="rect">
            <a:avLst/>
          </a:prstGeom>
          <a:solidFill>
            <a:srgbClr val="315DEA"/>
          </a:solidFill>
          <a:ln w="9525">
            <a:noFill/>
          </a:ln>
        </p:spPr>
      </p:sp>
      <p:sp>
        <p:nvSpPr>
          <p:cNvPr id="1015" name="Genesis text 1015"/>
          <p:cNvSpPr txBox="1"/>
          <p:nvPr/>
        </p:nvSpPr>
        <p:spPr>
          <a:xfrm>
            <a:off x="533400" y="3181350"/>
            <a:ext cx="3810000" cy="2571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425" b="1" dirty="0">
                <a:solidFill>
                  <a:srgbClr val="315DEA"/>
                </a:solidFill>
                <a:latin typeface="Arial"/>
              </a:rPr>
              <a:t>What was exercised</a:t>
            </a:r>
          </a:p>
        </p:txBody>
      </p:sp>
      <p:sp>
        <p:nvSpPr>
          <p:cNvPr id="1016" name="Genesis text 1016"/>
          <p:cNvSpPr txBox="1"/>
          <p:nvPr/>
        </p:nvSpPr>
        <p:spPr>
          <a:xfrm>
            <a:off x="533400" y="3495675"/>
            <a:ext cx="3810000" cy="8191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200" b="0" dirty="0">
                <a:solidFill>
                  <a:srgbClr val="17243B"/>
                </a:solidFill>
                <a:latin typeface="Arial"/>
              </a:rPr>
              <a:t>Source integrity, scoped access, deduplication, projections and browser layouts from 320–1440 px. TypeScript and design checks passed.</a:t>
            </a:r>
          </a:p>
        </p:txBody>
      </p:sp>
      <p:sp>
        <p:nvSpPr>
          <p:cNvPr id="1017" name="Genesis rect 1017"/>
          <p:cNvSpPr/>
          <p:nvPr/>
        </p:nvSpPr>
        <p:spPr>
          <a:xfrm>
            <a:off x="4667250" y="3057525"/>
            <a:ext cx="4038600" cy="1323975"/>
          </a:xfrm>
          <a:prstGeom prst="rect">
            <a:avLst/>
          </a:prstGeom>
          <a:solidFill>
            <a:srgbClr val="F0F3FA"/>
          </a:solidFill>
          <a:ln w="9525">
            <a:noFill/>
          </a:ln>
        </p:spPr>
      </p:sp>
      <p:sp>
        <p:nvSpPr>
          <p:cNvPr id="1018" name="Genesis rect 1018"/>
          <p:cNvSpPr/>
          <p:nvPr/>
        </p:nvSpPr>
        <p:spPr>
          <a:xfrm>
            <a:off x="4667250" y="3057525"/>
            <a:ext cx="38100" cy="1323975"/>
          </a:xfrm>
          <a:prstGeom prst="rect">
            <a:avLst/>
          </a:prstGeom>
          <a:solidFill>
            <a:srgbClr val="087F72"/>
          </a:solidFill>
          <a:ln w="9525">
            <a:noFill/>
          </a:ln>
        </p:spPr>
      </p:sp>
      <p:sp>
        <p:nvSpPr>
          <p:cNvPr id="1019" name="Genesis text 1019"/>
          <p:cNvSpPr txBox="1"/>
          <p:nvPr/>
        </p:nvSpPr>
        <p:spPr>
          <a:xfrm>
            <a:off x="4819650" y="3181350"/>
            <a:ext cx="3752850" cy="2571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425" b="1" dirty="0">
                <a:solidFill>
                  <a:srgbClr val="087F72"/>
                </a:solidFill>
                <a:latin typeface="Arial"/>
              </a:rPr>
              <a:t>What is not a benchmark</a:t>
            </a:r>
          </a:p>
        </p:txBody>
      </p:sp>
      <p:sp>
        <p:nvSpPr>
          <p:cNvPr id="1020" name="Genesis text 1020"/>
          <p:cNvSpPr txBox="1"/>
          <p:nvPr/>
        </p:nvSpPr>
        <p:spPr>
          <a:xfrm>
            <a:off x="4819650" y="3495675"/>
            <a:ext cx="3752850" cy="8191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200" b="0" dirty="0">
                <a:solidFill>
                  <a:srgbClr val="17243B"/>
                </a:solidFill>
                <a:latin typeface="Arial"/>
              </a:rPr>
              <a:t>No validated production accuracy, p95 latency, false-positive reduction or analyst-time saving is established. CI-013 is in progress.</a:t>
            </a:r>
          </a:p>
        </p:txBody>
      </p:sp>
      <p:sp>
        <p:nvSpPr>
          <p:cNvPr id="1021" name="Genesis text 1021"/>
          <p:cNvSpPr txBox="1"/>
          <p:nvPr/>
        </p:nvSpPr>
        <p:spPr>
          <a:xfrm>
            <a:off x="409575" y="4524375"/>
            <a:ext cx="8258175" cy="2190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975" b="0" dirty="0">
                <a:solidFill>
                  <a:srgbClr val="52627B"/>
                </a:solidFill>
                <a:latin typeface="Arial"/>
              </a:rPr>
              <a:t>These are recorded verification results, not tests rerun for this deck or evidence of deployed-current-source performance.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enesis text 1000"/>
          <p:cNvSpPr txBox="1"/>
          <p:nvPr/>
        </p:nvSpPr>
        <p:spPr>
          <a:xfrm>
            <a:off x="304800" y="742950"/>
            <a:ext cx="8524875" cy="4286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2025" b="1" dirty="0">
                <a:solidFill>
                  <a:srgbClr val="17243B"/>
                </a:solidFill>
                <a:latin typeface="Arial"/>
              </a:rPr>
              <a:t>Additional details / future development</a:t>
            </a:r>
          </a:p>
        </p:txBody>
      </p:sp>
      <p:sp>
        <p:nvSpPr>
          <p:cNvPr id="1001" name="Genesis text 1001"/>
          <p:cNvSpPr txBox="1"/>
          <p:nvPr/>
        </p:nvSpPr>
        <p:spPr>
          <a:xfrm>
            <a:off x="323850" y="4810125"/>
            <a:ext cx="8096250" cy="1809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825" b="0" dirty="0">
                <a:solidFill>
                  <a:srgbClr val="52627B"/>
                </a:solidFill>
                <a:latin typeface="Arial"/>
              </a:rPr>
              <a:t>AML Insight / Genesis  |  Repository evidence, 18 October 2026</a:t>
            </a:r>
          </a:p>
        </p:txBody>
      </p:sp>
      <p:sp>
        <p:nvSpPr>
          <p:cNvPr id="1002" name="Genesis text 1002"/>
          <p:cNvSpPr txBox="1"/>
          <p:nvPr/>
        </p:nvSpPr>
        <p:spPr>
          <a:xfrm>
            <a:off x="8429625" y="4810125"/>
            <a:ext cx="400050" cy="1809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r" marL="0" indent="0">
              <a:lnSpc>
                <a:spcPct val="116000"/>
              </a:lnSpc>
              <a:buNone/>
            </a:pPr>
            <a:r>
              <a:rPr lang="en-AU" sz="825" b="0" dirty="0">
                <a:solidFill>
                  <a:srgbClr val="52627B"/>
                </a:solidFill>
                <a:latin typeface="Arial"/>
              </a:rPr>
              <a:t>13</a:t>
            </a:r>
          </a:p>
        </p:txBody>
      </p:sp>
      <p:sp>
        <p:nvSpPr>
          <p:cNvPr id="1003" name="Genesis rect 1003"/>
          <p:cNvSpPr/>
          <p:nvPr/>
        </p:nvSpPr>
        <p:spPr>
          <a:xfrm>
            <a:off x="381000" y="1371600"/>
            <a:ext cx="4095750" cy="1352550"/>
          </a:xfrm>
          <a:prstGeom prst="rect">
            <a:avLst/>
          </a:prstGeom>
          <a:solidFill>
            <a:srgbClr val="F0F3FA"/>
          </a:solidFill>
          <a:ln w="9525">
            <a:noFill/>
          </a:ln>
        </p:spPr>
      </p:sp>
      <p:sp>
        <p:nvSpPr>
          <p:cNvPr id="1004" name="Genesis rect 1004"/>
          <p:cNvSpPr/>
          <p:nvPr/>
        </p:nvSpPr>
        <p:spPr>
          <a:xfrm>
            <a:off x="381000" y="1371600"/>
            <a:ext cx="38100" cy="1352550"/>
          </a:xfrm>
          <a:prstGeom prst="rect">
            <a:avLst/>
          </a:prstGeom>
          <a:solidFill>
            <a:srgbClr val="315DEA"/>
          </a:solidFill>
          <a:ln w="9525">
            <a:noFill/>
          </a:ln>
        </p:spPr>
      </p:sp>
      <p:sp>
        <p:nvSpPr>
          <p:cNvPr id="1005" name="Genesis text 1005"/>
          <p:cNvSpPr txBox="1"/>
          <p:nvPr/>
        </p:nvSpPr>
        <p:spPr>
          <a:xfrm>
            <a:off x="533400" y="1495425"/>
            <a:ext cx="3810000" cy="2571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425" b="1" dirty="0">
                <a:solidFill>
                  <a:srgbClr val="315DEA"/>
                </a:solidFill>
                <a:latin typeface="Arial"/>
              </a:rPr>
              <a:t>Complete the current workflow</a:t>
            </a:r>
          </a:p>
        </p:txBody>
      </p:sp>
      <p:sp>
        <p:nvSpPr>
          <p:cNvPr id="1006" name="Genesis text 1006"/>
          <p:cNvSpPr txBox="1"/>
          <p:nvPr/>
        </p:nvSpPr>
        <p:spPr>
          <a:xfrm>
            <a:off x="533400" y="1809750"/>
            <a:ext cx="3810000" cy="8477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275" b="0" dirty="0">
                <a:solidFill>
                  <a:srgbClr val="17243B"/>
                </a:solidFill>
                <a:latin typeface="Arial"/>
              </a:rPr>
              <a:t>Finish and verify the reserved-case genuine-batch work. Gather real analyst verdicts and measure outcomes; generated projections cannot satisfy learning gates.</a:t>
            </a:r>
          </a:p>
        </p:txBody>
      </p:sp>
      <p:sp>
        <p:nvSpPr>
          <p:cNvPr id="1007" name="Genesis rect 1007"/>
          <p:cNvSpPr/>
          <p:nvPr/>
        </p:nvSpPr>
        <p:spPr>
          <a:xfrm>
            <a:off x="4667250" y="1371600"/>
            <a:ext cx="4038600" cy="1352550"/>
          </a:xfrm>
          <a:prstGeom prst="rect">
            <a:avLst/>
          </a:prstGeom>
          <a:solidFill>
            <a:srgbClr val="F0F3FA"/>
          </a:solidFill>
          <a:ln w="9525">
            <a:noFill/>
          </a:ln>
        </p:spPr>
      </p:sp>
      <p:sp>
        <p:nvSpPr>
          <p:cNvPr id="1008" name="Genesis rect 1008"/>
          <p:cNvSpPr/>
          <p:nvPr/>
        </p:nvSpPr>
        <p:spPr>
          <a:xfrm>
            <a:off x="4667250" y="1371600"/>
            <a:ext cx="38100" cy="1352550"/>
          </a:xfrm>
          <a:prstGeom prst="rect">
            <a:avLst/>
          </a:prstGeom>
          <a:solidFill>
            <a:srgbClr val="087F72"/>
          </a:solidFill>
          <a:ln w="9525">
            <a:noFill/>
          </a:ln>
        </p:spPr>
      </p:sp>
      <p:sp>
        <p:nvSpPr>
          <p:cNvPr id="1009" name="Genesis text 1009"/>
          <p:cNvSpPr txBox="1"/>
          <p:nvPr/>
        </p:nvSpPr>
        <p:spPr>
          <a:xfrm>
            <a:off x="4819650" y="1495425"/>
            <a:ext cx="3752850" cy="2571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425" b="1" dirty="0">
                <a:solidFill>
                  <a:srgbClr val="087F72"/>
                </a:solidFill>
                <a:latin typeface="Arial"/>
              </a:rPr>
              <a:t>Validate improvement</a:t>
            </a:r>
          </a:p>
        </p:txBody>
      </p:sp>
      <p:sp>
        <p:nvSpPr>
          <p:cNvPr id="1010" name="Genesis text 1010"/>
          <p:cNvSpPr txBox="1"/>
          <p:nvPr/>
        </p:nvSpPr>
        <p:spPr>
          <a:xfrm>
            <a:off x="4819650" y="1809750"/>
            <a:ext cx="3752850" cy="8477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275" b="0" dirty="0">
                <a:solidFill>
                  <a:srgbClr val="17243B"/>
                </a:solidFill>
                <a:latin typeface="Arial"/>
              </a:rPr>
              <a:t>Require 30 conclusive genuine reviews overall and 15 eligible target-rule observations; then prospective validation on five new distinct identities.</a:t>
            </a:r>
          </a:p>
        </p:txBody>
      </p:sp>
      <p:sp>
        <p:nvSpPr>
          <p:cNvPr id="1011" name="Genesis rect 1011"/>
          <p:cNvSpPr/>
          <p:nvPr/>
        </p:nvSpPr>
        <p:spPr>
          <a:xfrm>
            <a:off x="381000" y="2924175"/>
            <a:ext cx="4095750" cy="1352550"/>
          </a:xfrm>
          <a:prstGeom prst="rect">
            <a:avLst/>
          </a:prstGeom>
          <a:solidFill>
            <a:srgbClr val="F0F3FA"/>
          </a:solidFill>
          <a:ln w="9525">
            <a:noFill/>
          </a:ln>
        </p:spPr>
      </p:sp>
      <p:sp>
        <p:nvSpPr>
          <p:cNvPr id="1012" name="Genesis rect 1012"/>
          <p:cNvSpPr/>
          <p:nvPr/>
        </p:nvSpPr>
        <p:spPr>
          <a:xfrm>
            <a:off x="381000" y="2924175"/>
            <a:ext cx="38100" cy="1352550"/>
          </a:xfrm>
          <a:prstGeom prst="rect">
            <a:avLst/>
          </a:prstGeom>
          <a:solidFill>
            <a:srgbClr val="315DEA"/>
          </a:solidFill>
          <a:ln w="9525">
            <a:noFill/>
          </a:ln>
        </p:spPr>
      </p:sp>
      <p:sp>
        <p:nvSpPr>
          <p:cNvPr id="1013" name="Genesis text 1013"/>
          <p:cNvSpPr txBox="1"/>
          <p:nvPr/>
        </p:nvSpPr>
        <p:spPr>
          <a:xfrm>
            <a:off x="533400" y="3048000"/>
            <a:ext cx="3810000" cy="2571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425" b="1" dirty="0">
                <a:solidFill>
                  <a:srgbClr val="315DEA"/>
                </a:solidFill>
                <a:latin typeface="Arial"/>
              </a:rPr>
              <a:t>Deploy current source</a:t>
            </a:r>
          </a:p>
        </p:txBody>
      </p:sp>
      <p:sp>
        <p:nvSpPr>
          <p:cNvPr id="1014" name="Genesis text 1014"/>
          <p:cNvSpPr txBox="1"/>
          <p:nvPr/>
        </p:nvSpPr>
        <p:spPr>
          <a:xfrm>
            <a:off x="533400" y="3362325"/>
            <a:ext cx="3810000" cy="8477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275" b="0" dirty="0">
                <a:solidFill>
                  <a:srgbClr val="17243B"/>
                </a:solidFill>
                <a:latin typeface="Arial"/>
              </a:rPr>
              <a:t>Build the verified current revision; validate publisher, Auth and private web/worker integration. Keep model/task activation explicit and bounded.</a:t>
            </a:r>
          </a:p>
        </p:txBody>
      </p:sp>
      <p:sp>
        <p:nvSpPr>
          <p:cNvPr id="1015" name="Genesis rect 1015"/>
          <p:cNvSpPr/>
          <p:nvPr/>
        </p:nvSpPr>
        <p:spPr>
          <a:xfrm>
            <a:off x="4667250" y="2924175"/>
            <a:ext cx="4038600" cy="1352550"/>
          </a:xfrm>
          <a:prstGeom prst="rect">
            <a:avLst/>
          </a:prstGeom>
          <a:solidFill>
            <a:srgbClr val="F0F3FA"/>
          </a:solidFill>
          <a:ln w="9525">
            <a:noFill/>
          </a:ln>
        </p:spPr>
      </p:sp>
      <p:sp>
        <p:nvSpPr>
          <p:cNvPr id="1016" name="Genesis rect 1016"/>
          <p:cNvSpPr/>
          <p:nvPr/>
        </p:nvSpPr>
        <p:spPr>
          <a:xfrm>
            <a:off x="4667250" y="2924175"/>
            <a:ext cx="38100" cy="1352550"/>
          </a:xfrm>
          <a:prstGeom prst="rect">
            <a:avLst/>
          </a:prstGeom>
          <a:solidFill>
            <a:srgbClr val="087F72"/>
          </a:solidFill>
          <a:ln w="9525">
            <a:noFill/>
          </a:ln>
        </p:spPr>
      </p:sp>
      <p:sp>
        <p:nvSpPr>
          <p:cNvPr id="1017" name="Genesis text 1017"/>
          <p:cNvSpPr txBox="1"/>
          <p:nvPr/>
        </p:nvSpPr>
        <p:spPr>
          <a:xfrm>
            <a:off x="4819650" y="3048000"/>
            <a:ext cx="3752850" cy="2571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425" b="1" dirty="0">
                <a:solidFill>
                  <a:srgbClr val="087F72"/>
                </a:solidFill>
                <a:latin typeface="Arial"/>
              </a:rPr>
              <a:t>Finish release artifacts</a:t>
            </a:r>
          </a:p>
        </p:txBody>
      </p:sp>
      <p:sp>
        <p:nvSpPr>
          <p:cNvPr id="1018" name="Genesis text 1018"/>
          <p:cNvSpPr txBox="1"/>
          <p:nvPr/>
        </p:nvSpPr>
        <p:spPr>
          <a:xfrm>
            <a:off x="4819650" y="3362325"/>
            <a:ext cx="3752850" cy="8477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275" b="0" dirty="0">
                <a:solidFill>
                  <a:srgbClr val="17243B"/>
                </a:solidFill>
                <a:latin typeface="Arial"/>
              </a:rPr>
              <a:t>Publish clean source, a signed-out prototype and a real video under three minutes. Keep private notes, held-out labels and credentials out of release assets.</a:t>
            </a:r>
          </a:p>
        </p:txBody>
      </p:sp>
      <p:sp>
        <p:nvSpPr>
          <p:cNvPr id="1019" name="Genesis text 1019"/>
          <p:cNvSpPr txBox="1"/>
          <p:nvPr/>
        </p:nvSpPr>
        <p:spPr>
          <a:xfrm>
            <a:off x="409575" y="4505325"/>
            <a:ext cx="8239125" cy="2381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125" b="0" dirty="0">
                <a:solidFill>
                  <a:srgbClr val="52627B"/>
                </a:solidFill>
                <a:latin typeface="Arial"/>
              </a:rPr>
              <a:t>These are existing repository tasks, not new product promises or claimed completed capabilities.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enesis text 1000"/>
          <p:cNvSpPr txBox="1"/>
          <p:nvPr/>
        </p:nvSpPr>
        <p:spPr>
          <a:xfrm>
            <a:off x="304800" y="742950"/>
            <a:ext cx="8524875" cy="4286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2025" b="1" dirty="0">
                <a:solidFill>
                  <a:srgbClr val="17243B"/>
                </a:solidFill>
                <a:latin typeface="Arial"/>
              </a:rPr>
              <a:t>Repository, video and product links</a:t>
            </a:r>
          </a:p>
        </p:txBody>
      </p:sp>
      <p:sp>
        <p:nvSpPr>
          <p:cNvPr id="1001" name="Genesis text 1001"/>
          <p:cNvSpPr txBox="1"/>
          <p:nvPr/>
        </p:nvSpPr>
        <p:spPr>
          <a:xfrm>
            <a:off x="323850" y="4810125"/>
            <a:ext cx="8096250" cy="1809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825" b="0" dirty="0">
                <a:solidFill>
                  <a:srgbClr val="52627B"/>
                </a:solidFill>
                <a:latin typeface="Arial"/>
              </a:rPr>
              <a:t>AML Insight / Genesis  |  Repository evidence, 18 October 2026</a:t>
            </a:r>
          </a:p>
        </p:txBody>
      </p:sp>
      <p:sp>
        <p:nvSpPr>
          <p:cNvPr id="1002" name="Genesis text 1002"/>
          <p:cNvSpPr txBox="1"/>
          <p:nvPr/>
        </p:nvSpPr>
        <p:spPr>
          <a:xfrm>
            <a:off x="8429625" y="4810125"/>
            <a:ext cx="400050" cy="1809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r" marL="0" indent="0">
              <a:lnSpc>
                <a:spcPct val="116000"/>
              </a:lnSpc>
              <a:buNone/>
            </a:pPr>
            <a:r>
              <a:rPr lang="en-AU" sz="825" b="0" dirty="0">
                <a:solidFill>
                  <a:srgbClr val="52627B"/>
                </a:solidFill>
                <a:latin typeface="Arial"/>
              </a:rPr>
              <a:t>14</a:t>
            </a:r>
          </a:p>
        </p:txBody>
      </p:sp>
      <p:sp>
        <p:nvSpPr>
          <p:cNvPr id="1003" name="Genesis rect 1003"/>
          <p:cNvSpPr/>
          <p:nvPr/>
        </p:nvSpPr>
        <p:spPr>
          <a:xfrm>
            <a:off x="381000" y="1362075"/>
            <a:ext cx="8324850" cy="885825"/>
          </a:xfrm>
          <a:prstGeom prst="rect">
            <a:avLst/>
          </a:prstGeom>
          <a:solidFill>
            <a:srgbClr val="F0F3FA"/>
          </a:solidFill>
          <a:ln w="9525">
            <a:noFill/>
          </a:ln>
        </p:spPr>
      </p:sp>
      <p:sp>
        <p:nvSpPr>
          <p:cNvPr id="1004" name="Genesis rect 1004"/>
          <p:cNvSpPr/>
          <p:nvPr/>
        </p:nvSpPr>
        <p:spPr>
          <a:xfrm>
            <a:off x="381000" y="1362075"/>
            <a:ext cx="38100" cy="885825"/>
          </a:xfrm>
          <a:prstGeom prst="rect">
            <a:avLst/>
          </a:prstGeom>
          <a:solidFill>
            <a:srgbClr val="315DEA"/>
          </a:solidFill>
          <a:ln w="9525">
            <a:noFill/>
          </a:ln>
        </p:spPr>
      </p:sp>
      <p:sp>
        <p:nvSpPr>
          <p:cNvPr id="1005" name="Genesis text 1005"/>
          <p:cNvSpPr txBox="1"/>
          <p:nvPr/>
        </p:nvSpPr>
        <p:spPr>
          <a:xfrm>
            <a:off x="533400" y="1485900"/>
            <a:ext cx="8039100" cy="2571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425" b="1" dirty="0">
                <a:solidFill>
                  <a:srgbClr val="315DEA"/>
                </a:solidFill>
                <a:latin typeface="Arial"/>
              </a:rPr>
              <a:t>GitHub public repository</a:t>
            </a:r>
          </a:p>
        </p:txBody>
      </p:sp>
      <p:sp>
        <p:nvSpPr>
          <p:cNvPr id="1006" name="Genesis text 1006"/>
          <p:cNvSpPr txBox="1"/>
          <p:nvPr/>
        </p:nvSpPr>
        <p:spPr>
          <a:xfrm>
            <a:off x="533400" y="1800225"/>
            <a:ext cx="8039100" cy="3810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275" b="0" dirty="0">
                <a:solidFill>
                  <a:srgbClr val="17243B"/>
                </a:solidFill>
                <a:latin typeface="Arial"/>
              </a:rPr>
              <a:t>No published public repository URL is recorded. Clean source-export copies exist in submission/github-repository/.</a:t>
            </a:r>
          </a:p>
        </p:txBody>
      </p:sp>
      <p:sp>
        <p:nvSpPr>
          <p:cNvPr id="1007" name="Genesis rect 1007"/>
          <p:cNvSpPr/>
          <p:nvPr/>
        </p:nvSpPr>
        <p:spPr>
          <a:xfrm>
            <a:off x="381000" y="2352675"/>
            <a:ext cx="8324850" cy="885825"/>
          </a:xfrm>
          <a:prstGeom prst="rect">
            <a:avLst/>
          </a:prstGeom>
          <a:solidFill>
            <a:srgbClr val="F0F3FA"/>
          </a:solidFill>
          <a:ln w="9525">
            <a:noFill/>
          </a:ln>
        </p:spPr>
      </p:sp>
      <p:sp>
        <p:nvSpPr>
          <p:cNvPr id="1008" name="Genesis rect 1008"/>
          <p:cNvSpPr/>
          <p:nvPr/>
        </p:nvSpPr>
        <p:spPr>
          <a:xfrm>
            <a:off x="381000" y="2352675"/>
            <a:ext cx="38100" cy="885825"/>
          </a:xfrm>
          <a:prstGeom prst="rect">
            <a:avLst/>
          </a:prstGeom>
          <a:solidFill>
            <a:srgbClr val="315DEA"/>
          </a:solidFill>
          <a:ln w="9525">
            <a:noFill/>
          </a:ln>
        </p:spPr>
      </p:sp>
      <p:sp>
        <p:nvSpPr>
          <p:cNvPr id="1009" name="Genesis text 1009"/>
          <p:cNvSpPr txBox="1"/>
          <p:nvPr/>
        </p:nvSpPr>
        <p:spPr>
          <a:xfrm>
            <a:off x="533400" y="2476500"/>
            <a:ext cx="8039100" cy="2571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425" b="1" dirty="0">
                <a:solidFill>
                  <a:srgbClr val="315DEA"/>
                </a:solidFill>
                <a:latin typeface="Arial"/>
              </a:rPr>
              <a:t>Demo video — under three minutes</a:t>
            </a:r>
          </a:p>
        </p:txBody>
      </p:sp>
      <p:sp>
        <p:nvSpPr>
          <p:cNvPr id="1010" name="Genesis text 1010"/>
          <p:cNvSpPr txBox="1"/>
          <p:nvPr/>
        </p:nvSpPr>
        <p:spPr>
          <a:xfrm>
            <a:off x="533400" y="2790825"/>
            <a:ext cx="8039100" cy="3810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275" b="0" dirty="0">
                <a:solidFill>
                  <a:srgbClr val="17243B"/>
                </a:solidFill>
                <a:latin typeface="Arial"/>
              </a:rPr>
              <a:t>No recorded video URL or measured duration is available. A 150-second recording script exists in submission/demo-video/.</a:t>
            </a:r>
          </a:p>
        </p:txBody>
      </p:sp>
      <p:sp>
        <p:nvSpPr>
          <p:cNvPr id="1011" name="Genesis rect 1011"/>
          <p:cNvSpPr/>
          <p:nvPr/>
        </p:nvSpPr>
        <p:spPr>
          <a:xfrm>
            <a:off x="381000" y="3343275"/>
            <a:ext cx="8324850" cy="885825"/>
          </a:xfrm>
          <a:prstGeom prst="rect">
            <a:avLst/>
          </a:prstGeom>
          <a:solidFill>
            <a:srgbClr val="F0F3FA"/>
          </a:solidFill>
          <a:ln w="9525">
            <a:noFill/>
          </a:ln>
        </p:spPr>
      </p:sp>
      <p:sp>
        <p:nvSpPr>
          <p:cNvPr id="1012" name="Genesis rect 1012"/>
          <p:cNvSpPr/>
          <p:nvPr/>
        </p:nvSpPr>
        <p:spPr>
          <a:xfrm>
            <a:off x="381000" y="3343275"/>
            <a:ext cx="38100" cy="885825"/>
          </a:xfrm>
          <a:prstGeom prst="rect">
            <a:avLst/>
          </a:prstGeom>
          <a:solidFill>
            <a:srgbClr val="087F72"/>
          </a:solidFill>
          <a:ln w="9525">
            <a:noFill/>
          </a:ln>
        </p:spPr>
      </p:sp>
      <p:sp>
        <p:nvSpPr>
          <p:cNvPr id="1013" name="Genesis text 1013"/>
          <p:cNvSpPr txBox="1"/>
          <p:nvPr/>
        </p:nvSpPr>
        <p:spPr>
          <a:xfrm>
            <a:off x="533400" y="3467100"/>
            <a:ext cx="8039100" cy="2571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425" b="1" dirty="0">
                <a:solidFill>
                  <a:srgbClr val="087F72"/>
                </a:solidFill>
                <a:latin typeface="Arial"/>
              </a:rPr>
              <a:t>Final product link</a:t>
            </a:r>
          </a:p>
        </p:txBody>
      </p:sp>
      <p:sp>
        <p:nvSpPr>
          <p:cNvPr id="1014" name="Genesis text 1014"/>
          <p:cNvSpPr txBox="1"/>
          <p:nvPr/>
        </p:nvSpPr>
        <p:spPr>
          <a:xfrm>
            <a:off x="533400" y="3781425"/>
            <a:ext cx="8039100" cy="3810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275" b="0" dirty="0">
                <a:solidFill>
                  <a:srgbClr val="17243B"/>
                </a:solidFill>
                <a:latin typeface="Arial"/>
              </a:rPr>
              <a:t>Local source preview: http://127.0.0.1:5173 — this workstation only. Earlier private Cloud Run staging is recorded; no signed-out public product URL is recorded.</a:t>
            </a:r>
          </a:p>
        </p:txBody>
      </p:sp>
      <p:sp>
        <p:nvSpPr>
          <p:cNvPr id="1015" name="Genesis text 1015"/>
          <p:cNvSpPr txBox="1"/>
          <p:nvPr/>
        </p:nvSpPr>
        <p:spPr>
          <a:xfrm>
            <a:off x="409575" y="4448175"/>
            <a:ext cx="8248650" cy="2667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125" b="0" dirty="0">
                <a:solidFill>
                  <a:srgbClr val="52627B"/>
                </a:solidFill>
                <a:latin typeface="Arial"/>
              </a:rPr>
              <a:t>All three requested fields are answered from the repository; unavailable public links are not fabricated.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enesis text 1000"/>
          <p:cNvSpPr txBox="1"/>
          <p:nvPr/>
        </p:nvSpPr>
        <p:spPr>
          <a:xfrm>
            <a:off x="304800" y="742950"/>
            <a:ext cx="8524875" cy="4286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2025" b="1" dirty="0">
                <a:solidFill>
                  <a:srgbClr val="17243B"/>
                </a:solidFill>
                <a:latin typeface="Arial"/>
              </a:rPr>
              <a:t>Evidence boundaries: know what each count means</a:t>
            </a:r>
          </a:p>
        </p:txBody>
      </p:sp>
      <p:sp>
        <p:nvSpPr>
          <p:cNvPr id="1001" name="Genesis text 1001"/>
          <p:cNvSpPr txBox="1"/>
          <p:nvPr/>
        </p:nvSpPr>
        <p:spPr>
          <a:xfrm>
            <a:off x="323850" y="4810125"/>
            <a:ext cx="8096250" cy="1809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825" b="0" dirty="0">
                <a:solidFill>
                  <a:srgbClr val="52627B"/>
                </a:solidFill>
                <a:latin typeface="Arial"/>
              </a:rPr>
              <a:t>AML Insight / Genesis  |  Repository evidence, 18 October 2026</a:t>
            </a:r>
          </a:p>
        </p:txBody>
      </p:sp>
      <p:sp>
        <p:nvSpPr>
          <p:cNvPr id="1002" name="Genesis text 1002"/>
          <p:cNvSpPr txBox="1"/>
          <p:nvPr/>
        </p:nvSpPr>
        <p:spPr>
          <a:xfrm>
            <a:off x="8429625" y="4810125"/>
            <a:ext cx="400050" cy="1809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r" marL="0" indent="0">
              <a:lnSpc>
                <a:spcPct val="116000"/>
              </a:lnSpc>
              <a:buNone/>
            </a:pPr>
            <a:r>
              <a:rPr lang="en-AU" sz="825" b="0" dirty="0">
                <a:solidFill>
                  <a:srgbClr val="52627B"/>
                </a:solidFill>
                <a:latin typeface="Arial"/>
              </a:rPr>
              <a:t>15</a:t>
            </a:r>
          </a:p>
        </p:txBody>
      </p:sp>
      <p:sp>
        <p:nvSpPr>
          <p:cNvPr id="1003" name="Genesis text 1003"/>
          <p:cNvSpPr txBox="1"/>
          <p:nvPr/>
        </p:nvSpPr>
        <p:spPr>
          <a:xfrm>
            <a:off x="409575" y="1304925"/>
            <a:ext cx="8248650" cy="2857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575" b="1" dirty="0">
                <a:solidFill>
                  <a:srgbClr val="17243B"/>
                </a:solidFill>
                <a:latin typeface="Arial"/>
              </a:rPr>
              <a:t>2,000 advisory cases: coverage is not the same as human verification</a:t>
            </a:r>
          </a:p>
        </p:txBody>
      </p:sp>
      <p:sp>
        <p:nvSpPr>
          <p:cNvPr id="1004" name="Genesis rect 1004"/>
          <p:cNvSpPr/>
          <p:nvPr/>
        </p:nvSpPr>
        <p:spPr>
          <a:xfrm>
            <a:off x="409575" y="1800225"/>
            <a:ext cx="8248650" cy="409575"/>
          </a:xfrm>
          <a:prstGeom prst="rect">
            <a:avLst/>
          </a:prstGeom>
          <a:solidFill>
            <a:srgbClr val="E7ECF8"/>
          </a:solidFill>
          <a:ln w="9525">
            <a:noFill/>
          </a:ln>
        </p:spPr>
      </p:sp>
      <p:sp>
        <p:nvSpPr>
          <p:cNvPr id="1005" name="Genesis rect 1005"/>
          <p:cNvSpPr/>
          <p:nvPr/>
        </p:nvSpPr>
        <p:spPr>
          <a:xfrm>
            <a:off x="409575" y="1800225"/>
            <a:ext cx="123825" cy="409575"/>
          </a:xfrm>
          <a:prstGeom prst="rect">
            <a:avLst/>
          </a:prstGeom>
          <a:solidFill>
            <a:srgbClr val="087F72"/>
          </a:solidFill>
          <a:ln w="9525">
            <a:noFill/>
          </a:ln>
        </p:spPr>
      </p:sp>
      <p:sp>
        <p:nvSpPr>
          <p:cNvPr id="1006" name="Genesis rect 1006"/>
          <p:cNvSpPr/>
          <p:nvPr/>
        </p:nvSpPr>
        <p:spPr>
          <a:xfrm>
            <a:off x="533400" y="1800225"/>
            <a:ext cx="8124825" cy="409575"/>
          </a:xfrm>
          <a:prstGeom prst="rect">
            <a:avLst/>
          </a:prstGeom>
          <a:solidFill>
            <a:srgbClr val="315DEA"/>
          </a:solidFill>
          <a:ln w="9525">
            <a:noFill/>
          </a:ln>
        </p:spPr>
      </p:sp>
      <p:sp>
        <p:nvSpPr>
          <p:cNvPr id="1007" name="Genesis text 1007"/>
          <p:cNvSpPr txBox="1"/>
          <p:nvPr/>
        </p:nvSpPr>
        <p:spPr>
          <a:xfrm>
            <a:off x="409575" y="2343150"/>
            <a:ext cx="8248650" cy="2857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425" b="1" dirty="0">
                <a:solidFill>
                  <a:srgbClr val="315DEA"/>
                </a:solidFill>
                <a:latin typeface="Arial"/>
              </a:rPr>
              <a:t>30 genuine Gemini advisories (1.5%) + 1,970 agent drafts (98.5%).</a:t>
            </a:r>
          </a:p>
        </p:txBody>
      </p:sp>
      <p:sp>
        <p:nvSpPr>
          <p:cNvPr id="1008" name="Genesis text 1008"/>
          <p:cNvSpPr txBox="1"/>
          <p:nvPr/>
        </p:nvSpPr>
        <p:spPr>
          <a:xfrm>
            <a:off x="409575" y="2762250"/>
            <a:ext cx="8248650" cy="447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275" b="0" dirty="0">
                <a:solidFill>
                  <a:srgbClr val="17243B"/>
                </a:solidFill>
                <a:latin typeface="Arial"/>
              </a:rPr>
              <a:t>Agent drafts have distinct provenance and no provider attempts or human-feedback claims.</a:t>
            </a:r>
          </a:p>
          <a:p>
            <a:pPr algn="l" marL="0" indent="0">
              <a:lnSpc>
                <a:spcPct val="116000"/>
              </a:lnSpc>
              <a:buNone/>
            </a:pPr>
            <a:r>
              <a:rPr lang="en-AU" sz="1275" b="0" dirty="0">
                <a:solidFill>
                  <a:srgbClr val="17243B"/>
                </a:solidFill>
                <a:latin typeface="Arial"/>
              </a:rPr>
              <a:t>1,000 reserved cases are excluded from advisory preprocessing.</a:t>
            </a:r>
          </a:p>
        </p:txBody>
      </p:sp>
      <p:sp>
        <p:nvSpPr>
          <p:cNvPr id="1009" name="Genesis rect 1009"/>
          <p:cNvSpPr/>
          <p:nvPr/>
        </p:nvSpPr>
        <p:spPr>
          <a:xfrm>
            <a:off x="381000" y="3419475"/>
            <a:ext cx="4095750" cy="1009650"/>
          </a:xfrm>
          <a:prstGeom prst="rect">
            <a:avLst/>
          </a:prstGeom>
          <a:solidFill>
            <a:srgbClr val="F0F3FA"/>
          </a:solidFill>
          <a:ln w="9525">
            <a:noFill/>
          </a:ln>
        </p:spPr>
      </p:sp>
      <p:sp>
        <p:nvSpPr>
          <p:cNvPr id="1010" name="Genesis rect 1010"/>
          <p:cNvSpPr/>
          <p:nvPr/>
        </p:nvSpPr>
        <p:spPr>
          <a:xfrm>
            <a:off x="381000" y="3419475"/>
            <a:ext cx="38100" cy="1009650"/>
          </a:xfrm>
          <a:prstGeom prst="rect">
            <a:avLst/>
          </a:prstGeom>
          <a:solidFill>
            <a:srgbClr val="315DEA"/>
          </a:solidFill>
          <a:ln w="9525">
            <a:noFill/>
          </a:ln>
        </p:spPr>
      </p:sp>
      <p:sp>
        <p:nvSpPr>
          <p:cNvPr id="1011" name="Genesis text 1011"/>
          <p:cNvSpPr txBox="1"/>
          <p:nvPr/>
        </p:nvSpPr>
        <p:spPr>
          <a:xfrm>
            <a:off x="533400" y="3543300"/>
            <a:ext cx="3810000" cy="2571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425" b="1" dirty="0">
                <a:solidFill>
                  <a:srgbClr val="315DEA"/>
                </a:solidFill>
                <a:latin typeface="Arial"/>
              </a:rPr>
              <a:t>Simulated analyst assignments</a:t>
            </a:r>
          </a:p>
        </p:txBody>
      </p:sp>
      <p:sp>
        <p:nvSpPr>
          <p:cNvPr id="1012" name="Genesis text 1012"/>
          <p:cNvSpPr txBox="1"/>
          <p:nvPr/>
        </p:nvSpPr>
        <p:spPr>
          <a:xfrm>
            <a:off x="533400" y="3857625"/>
            <a:ext cx="3810000" cy="5048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200" b="0" dirty="0">
                <a:solidFill>
                  <a:srgbClr val="17243B"/>
                </a:solidFill>
                <a:latin typeface="Arial"/>
              </a:rPr>
              <a:t>1,500 agree / 400 disagree / 100 uncertain. Generated training labels, not actual human verdicts.</a:t>
            </a:r>
          </a:p>
        </p:txBody>
      </p:sp>
      <p:sp>
        <p:nvSpPr>
          <p:cNvPr id="1013" name="Genesis rect 1013"/>
          <p:cNvSpPr/>
          <p:nvPr/>
        </p:nvSpPr>
        <p:spPr>
          <a:xfrm>
            <a:off x="4667250" y="3419475"/>
            <a:ext cx="4038600" cy="1009650"/>
          </a:xfrm>
          <a:prstGeom prst="rect">
            <a:avLst/>
          </a:prstGeom>
          <a:solidFill>
            <a:srgbClr val="F0F3FA"/>
          </a:solidFill>
          <a:ln w="9525">
            <a:noFill/>
          </a:ln>
        </p:spPr>
      </p:sp>
      <p:sp>
        <p:nvSpPr>
          <p:cNvPr id="1014" name="Genesis rect 1014"/>
          <p:cNvSpPr/>
          <p:nvPr/>
        </p:nvSpPr>
        <p:spPr>
          <a:xfrm>
            <a:off x="4667250" y="3419475"/>
            <a:ext cx="38100" cy="1009650"/>
          </a:xfrm>
          <a:prstGeom prst="rect">
            <a:avLst/>
          </a:prstGeom>
          <a:solidFill>
            <a:srgbClr val="087F72"/>
          </a:solidFill>
          <a:ln w="9525">
            <a:noFill/>
          </a:ln>
        </p:spPr>
      </p:sp>
      <p:sp>
        <p:nvSpPr>
          <p:cNvPr id="1015" name="Genesis text 1015"/>
          <p:cNvSpPr txBox="1"/>
          <p:nvPr/>
        </p:nvSpPr>
        <p:spPr>
          <a:xfrm>
            <a:off x="4819650" y="3543300"/>
            <a:ext cx="3752850" cy="2571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425" b="1" dirty="0">
                <a:solidFill>
                  <a:srgbClr val="087F72"/>
                </a:solidFill>
                <a:latin typeface="Arial"/>
              </a:rPr>
              <a:t>Current learning outcome</a:t>
            </a:r>
          </a:p>
        </p:txBody>
      </p:sp>
      <p:sp>
        <p:nvSpPr>
          <p:cNvPr id="1016" name="Genesis text 1016"/>
          <p:cNvSpPr txBox="1"/>
          <p:nvPr/>
        </p:nvSpPr>
        <p:spPr>
          <a:xfrm>
            <a:off x="4819650" y="3857625"/>
            <a:ext cx="3752850" cy="5048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200" b="0" dirty="0">
                <a:solidFill>
                  <a:srgbClr val="17243B"/>
                </a:solidFill>
                <a:latin typeface="Arial"/>
              </a:rPr>
              <a:t>No supported cutoff candidate in the recorded projection run. No operational policy changed.</a:t>
            </a:r>
          </a:p>
        </p:txBody>
      </p:sp>
      <p:sp>
        <p:nvSpPr>
          <p:cNvPr id="1017" name="Genesis text 1017"/>
          <p:cNvSpPr txBox="1"/>
          <p:nvPr/>
        </p:nvSpPr>
        <p:spPr>
          <a:xfrm>
            <a:off x="409575" y="4552950"/>
            <a:ext cx="8248650" cy="1905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050" b="0" dirty="0">
                <a:solidFill>
                  <a:srgbClr val="52627B"/>
                </a:solidFill>
                <a:latin typeface="Arial"/>
              </a:rPr>
              <a:t>Reference labels, full investigations, Gemini advisories, agent drafts and human reviews remain separate.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  <p:sp>
        <p:nvSpPr>
          <p:cNvPr id="1000" name="Genesis rect 1000"/>
          <p:cNvSpPr/>
          <p:nvPr/>
        </p:nvSpPr>
        <p:spPr>
          <a:xfrm>
            <a:off x="5143500" y="3095625"/>
            <a:ext cx="3667125" cy="1666875"/>
          </a:xfrm>
          <a:prstGeom prst="rect">
            <a:avLst/>
          </a:prstGeom>
          <a:solidFill>
            <a:srgbClr val="000000"/>
          </a:solidFill>
          <a:ln w="9525">
            <a:noFill/>
          </a:ln>
        </p:spPr>
      </p:sp>
      <p:sp>
        <p:nvSpPr>
          <p:cNvPr id="1001" name="Genesis text 1001"/>
          <p:cNvSpPr txBox="1"/>
          <p:nvPr/>
        </p:nvSpPr>
        <p:spPr>
          <a:xfrm>
            <a:off x="5305425" y="3219450"/>
            <a:ext cx="3381375" cy="3429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875" b="1" dirty="0">
                <a:solidFill>
                  <a:srgbClr val="FFFFFF"/>
                </a:solidFill>
                <a:latin typeface="Arial"/>
              </a:rPr>
              <a:t>AML Insight / Genesis</a:t>
            </a:r>
          </a:p>
        </p:txBody>
      </p:sp>
      <p:sp>
        <p:nvSpPr>
          <p:cNvPr id="1002" name="Genesis text 1002"/>
          <p:cNvSpPr txBox="1"/>
          <p:nvPr/>
        </p:nvSpPr>
        <p:spPr>
          <a:xfrm>
            <a:off x="5305425" y="3724275"/>
            <a:ext cx="3381375" cy="8382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buNone/>
            </a:pPr>
            <a:r>
              <a:rPr lang="en-AU" sz="1500" b="0" dirty="0">
                <a:solidFill>
                  <a:srgbClr val="FFFFFF"/>
                </a:solidFill>
                <a:latin typeface="Arial"/>
              </a:rPr>
              <a:t>Evidence first.</a:t>
            </a:r>
          </a:p>
          <a:p>
            <a:pPr algn="l" marL="0" indent="0">
              <a:lnSpc>
                <a:spcPct val="116000"/>
              </a:lnSpc>
              <a:buNone/>
            </a:pPr>
            <a:r>
              <a:rPr lang="en-AU" sz="1500" b="0" dirty="0">
                <a:solidFill>
                  <a:srgbClr val="FFFFFF"/>
                </a:solidFill>
                <a:latin typeface="Arial"/>
              </a:rPr>
              <a:t>AI assists. Analysts decide.</a:t>
            </a:r>
          </a:p>
          <a:p>
            <a:pPr algn="l" marL="0" indent="0">
              <a:lnSpc>
                <a:spcPct val="116000"/>
              </a:lnSpc>
              <a:buNone/>
            </a:pPr>
            <a:r>
              <a:rPr lang="en-AU" sz="1500" b="0" dirty="0">
                <a:solidFill>
                  <a:srgbClr val="FFFFFF"/>
                </a:solidFill>
                <a:latin typeface="Arial"/>
              </a:rPr>
              <a:t>Learning requires validated outcomes.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